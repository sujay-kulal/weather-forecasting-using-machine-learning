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2f885871c84dcd" /><Relationship Type="http://schemas.openxmlformats.org/officeDocument/2006/relationships/extended-properties" Target="/docProps/app.xml" Id="Rdb1ced1664f24595" /><Relationship Type="http://schemas.openxmlformats.org/officeDocument/2006/relationships/officeDocument" Target="/ppt/presentation.xml" Id="R290171bb4995457e" /></Relationships>
</file>

<file path=ppt/presentation.xml><?xml version="1.0" encoding="utf-8"?>
<p:presentation xmlns:p="http://schemas.openxmlformats.org/presentationml/2006/main">
  <p:sldMasterIdLst>
    <p:sldMasterId xmlns:r="http://schemas.openxmlformats.org/officeDocument/2006/relationships" id="2147483648" r:id="R56ddb601d46a432f"/>
  </p:sldMasterIdLst>
  <p:notesMasterIdLst>
    <p:notesMasterId xmlns:r="http://schemas.openxmlformats.org/officeDocument/2006/relationships" r:id="Rf22e7127b5d44681"/>
  </p:notesMasterIdLst>
  <p:sldIdLst>
    <p:sldId xmlns:r="http://schemas.openxmlformats.org/officeDocument/2006/relationships" id="256" r:id="Rcc21061e3dda49bd"/>
    <p:sldId xmlns:r="http://schemas.openxmlformats.org/officeDocument/2006/relationships" id="257" r:id="Ra14cd2c063f04287"/>
    <p:sldId xmlns:r="http://schemas.openxmlformats.org/officeDocument/2006/relationships" id="258" r:id="R2e36bd7094214f5e"/>
    <p:sldId xmlns:r="http://schemas.openxmlformats.org/officeDocument/2006/relationships" id="259" r:id="Rde7650b1abb44fdf"/>
    <p:sldId xmlns:r="http://schemas.openxmlformats.org/officeDocument/2006/relationships" id="260" r:id="R826b6cd0ec754768"/>
    <p:sldId xmlns:r="http://schemas.openxmlformats.org/officeDocument/2006/relationships" id="261" r:id="R6e8e6290cf7c4bc1"/>
    <p:sldId xmlns:r="http://schemas.openxmlformats.org/officeDocument/2006/relationships" id="262" r:id="Rd9567f8a73d04201"/>
    <p:sldId xmlns:r="http://schemas.openxmlformats.org/officeDocument/2006/relationships" id="263" r:id="R0ce289244eef493d"/>
    <p:sldId xmlns:r="http://schemas.openxmlformats.org/officeDocument/2006/relationships" id="264" r:id="Re725bf59abd34fb5"/>
    <p:sldId xmlns:r="http://schemas.openxmlformats.org/officeDocument/2006/relationships" id="265" r:id="R199639f77c354231"/>
    <p:sldId xmlns:r="http://schemas.openxmlformats.org/officeDocument/2006/relationships" id="266" r:id="R147f163a7b344518"/>
    <p:sldId xmlns:r="http://schemas.openxmlformats.org/officeDocument/2006/relationships" id="267" r:id="R2e1439c7ab6f4f92"/>
    <p:sldId xmlns:r="http://schemas.openxmlformats.org/officeDocument/2006/relationships" id="268" r:id="R5e24fb35bebc4051"/>
    <p:sldId xmlns:r="http://schemas.openxmlformats.org/officeDocument/2006/relationships" id="269" r:id="Rf18586b7da4746e9"/>
    <p:sldId xmlns:r="http://schemas.openxmlformats.org/officeDocument/2006/relationships" id="270" r:id="Ra36cb6a5d0b7404f"/>
    <p:sldId xmlns:r="http://schemas.openxmlformats.org/officeDocument/2006/relationships" id="271" r:id="R66d1a8dd632546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453260364a44e0" /><Relationship Type="http://schemas.openxmlformats.org/officeDocument/2006/relationships/slideMaster" Target="/ppt/slideMasters/slideMaster1.xml" Id="R56ddb601d46a432f" /><Relationship Type="http://schemas.openxmlformats.org/officeDocument/2006/relationships/notesMaster" Target="/ppt/notesMasters/notesMaster1.xml" Id="Rf22e7127b5d44681" /><Relationship Type="http://schemas.openxmlformats.org/officeDocument/2006/relationships/presProps" Target="/ppt/presProps.xml" Id="R2cfe38d210564590" /><Relationship Type="http://schemas.openxmlformats.org/officeDocument/2006/relationships/tableStyles" Target="/ppt/tableStyles.xml" Id="Ra96b41f4c4ff46b3" /><Relationship Type="http://schemas.openxmlformats.org/officeDocument/2006/relationships/slide" Target="/ppt/slides/slide1.xml" Id="Rcc21061e3dda49bd" /><Relationship Type="http://schemas.openxmlformats.org/officeDocument/2006/relationships/slide" Target="/ppt/slides/slide2.xml" Id="Ra14cd2c063f04287" /><Relationship Type="http://schemas.openxmlformats.org/officeDocument/2006/relationships/slide" Target="/ppt/slides/slide3.xml" Id="R2e36bd7094214f5e" /><Relationship Type="http://schemas.openxmlformats.org/officeDocument/2006/relationships/slide" Target="/ppt/slides/slide4.xml" Id="Rde7650b1abb44fdf" /><Relationship Type="http://schemas.openxmlformats.org/officeDocument/2006/relationships/slide" Target="/ppt/slides/slide5.xml" Id="R826b6cd0ec754768" /><Relationship Type="http://schemas.openxmlformats.org/officeDocument/2006/relationships/slide" Target="/ppt/slides/slide6.xml" Id="R6e8e6290cf7c4bc1" /><Relationship Type="http://schemas.openxmlformats.org/officeDocument/2006/relationships/slide" Target="/ppt/slides/slide7.xml" Id="Rd9567f8a73d04201" /><Relationship Type="http://schemas.openxmlformats.org/officeDocument/2006/relationships/slide" Target="/ppt/slides/slide8.xml" Id="R0ce289244eef493d" /><Relationship Type="http://schemas.openxmlformats.org/officeDocument/2006/relationships/slide" Target="/ppt/slides/slide9.xml" Id="Re725bf59abd34fb5" /><Relationship Type="http://schemas.openxmlformats.org/officeDocument/2006/relationships/slide" Target="/ppt/slides/slide10.xml" Id="R199639f77c354231" /><Relationship Type="http://schemas.openxmlformats.org/officeDocument/2006/relationships/slide" Target="/ppt/slides/slide11.xml" Id="R147f163a7b344518" /><Relationship Type="http://schemas.openxmlformats.org/officeDocument/2006/relationships/slide" Target="/ppt/slides/slide12.xml" Id="R2e1439c7ab6f4f92" /><Relationship Type="http://schemas.openxmlformats.org/officeDocument/2006/relationships/slide" Target="/ppt/slides/slide13.xml" Id="R5e24fb35bebc4051" /><Relationship Type="http://schemas.openxmlformats.org/officeDocument/2006/relationships/slide" Target="/ppt/slides/slide14.xml" Id="Rf18586b7da4746e9" /><Relationship Type="http://schemas.openxmlformats.org/officeDocument/2006/relationships/slide" Target="/ppt/slides/slide15.xml" Id="Ra36cb6a5d0b7404f" /><Relationship Type="http://schemas.openxmlformats.org/officeDocument/2006/relationships/slide" Target="/ppt/slides/slide16.xml" Id="R66d1a8dd632546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cf83aae8964f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6af27d863d4673" /><Relationship Type="http://schemas.openxmlformats.org/officeDocument/2006/relationships/notesMaster" Target="/ppt/notesMasters/notesMaster1.xml" Id="R9d9d69bd321d4e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99c7015c3e4e38" /><Relationship Type="http://schemas.openxmlformats.org/officeDocument/2006/relationships/notesMaster" Target="/ppt/notesMasters/notesMaster1.xml" Id="Rf0d07820ff9f479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0844b95a074d72" /><Relationship Type="http://schemas.openxmlformats.org/officeDocument/2006/relationships/notesMaster" Target="/ppt/notesMasters/notesMaster1.xml" Id="R68dac1bd02d242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5fed9e626f4fe4" /><Relationship Type="http://schemas.openxmlformats.org/officeDocument/2006/relationships/notesMaster" Target="/ppt/notesMasters/notesMaster1.xml" Id="R551f12e8682041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2933ac42f84452" /><Relationship Type="http://schemas.openxmlformats.org/officeDocument/2006/relationships/notesMaster" Target="/ppt/notesMasters/notesMaster1.xml" Id="R99c5b8a8363844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330204e2844be6" /><Relationship Type="http://schemas.openxmlformats.org/officeDocument/2006/relationships/notesMaster" Target="/ppt/notesMasters/notesMaster1.xml" Id="R3062934ec31645e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d41cb25acc493e" /><Relationship Type="http://schemas.openxmlformats.org/officeDocument/2006/relationships/notesMaster" Target="/ppt/notesMasters/notesMaster1.xml" Id="Rbffcdcf914154c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7442f75f7b4571" /><Relationship Type="http://schemas.openxmlformats.org/officeDocument/2006/relationships/notesMaster" Target="/ppt/notesMasters/notesMaster1.xml" Id="Rb2ea395e7fc342a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52fe0b807e4b89" /><Relationship Type="http://schemas.openxmlformats.org/officeDocument/2006/relationships/notesMaster" Target="/ppt/notesMasters/notesMaster1.xml" Id="Rf17bcb90094d48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a0507ab7964aa1" /><Relationship Type="http://schemas.openxmlformats.org/officeDocument/2006/relationships/notesMaster" Target="/ppt/notesMasters/notesMaster1.xml" Id="Rd6eeb469172f43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66a92924444716" /><Relationship Type="http://schemas.openxmlformats.org/officeDocument/2006/relationships/notesMaster" Target="/ppt/notesMasters/notesMaster1.xml" Id="R451e6a4e3a8e49d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aa9268e61ea4c74" /><Relationship Type="http://schemas.openxmlformats.org/officeDocument/2006/relationships/notesMaster" Target="/ppt/notesMasters/notesMaster1.xml" Id="R2dc970088bf8486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584782be18461e" /><Relationship Type="http://schemas.openxmlformats.org/officeDocument/2006/relationships/notesMaster" Target="/ppt/notesMasters/notesMaster1.xml" Id="R73db68cd262844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ecf81f3c59c43e0" /><Relationship Type="http://schemas.openxmlformats.org/officeDocument/2006/relationships/notesMaster" Target="/ppt/notesMasters/notesMaster1.xml" Id="R30250d61e3e6459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b7cad57c5d4ea8" /><Relationship Type="http://schemas.openxmlformats.org/officeDocument/2006/relationships/notesMaster" Target="/ppt/notesMasters/notesMaster1.xml" Id="R45717734da1c4b1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e45e4468894e47" /><Relationship Type="http://schemas.openxmlformats.org/officeDocument/2006/relationships/notesMaster" Target="/ppt/notesMasters/notesMaster1.xml" Id="R47b90ba735be43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This project is called Weather Forecasting Using Machine Learning. It forecasts the next-day average temperature for Indian states. I will explain the dataset, model, full-stack implementation, results, and the parts that still need deployment verification. Source: repository project files and verification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Weather forecasting estimates future atmospheric conditions using earlier observations. In this project, machine learning learns temperature patterns from historical state-level weather data. The application lets a user choose a state and date, then returns a next-day average temperature forecast with supporting weather context. Source: frontend README, ForecastPage.tsx, 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addresses the need to turn stored state-level weather observations into a next-day average-temperature forecast that users can request through a web application. The project keeps training and serving features consistent, prevents future-data leakage, exposes the workflow in the UI and retains generated forecasts. Source: backend README, feature_service.py and prediction.py.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implemented objectives are to train and compare regression models, select a model by test RMSE, serve predictions with FastAPI, use PostgreSQL for weather data and audit records, and provide a React interface for forecasts, weather history, model performance and prediction history. Source: train_model.py, backend application files and frontend App.tsx.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does not describe a separate legacy product, so this comparison describes a manual historical-data workflow versus the implemented system. The proposed system centralises data access, constructs model inputs automatically, validates requests and stores output records. Source: backend README, routes and frontend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works through the React and Vite interface. FastAPI validates the request and reads weather history from PostgreSQL. The feature service creates the exact 13 inputs used in training. The saved Gradient Boosting pipeline predicts the temperature, FastAPI stores the audit record, and then returns the response to the interface. Source: backend README, main.py, prediction.py and feature_service.py.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React, TypeScript, Vite and Recharts. The backend uses Python, FastAPI, Uvicorn, SQLAlchemy and psycopg. PostgreSQL stores application data. Pandas, NumPy, scikit-learn and joblib support the model pipeline. Open-Meteo Archive appears only in the optional manual data-update script. No cloud deployment technology is verified. Source: package.json, requirements.txt and update_weather.py.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CSV has 31,177 rows across 34 state labels from 1 April 2023 to 6 October 2025. The model selects weather fields, not the power-demand fields also present in the source. Our checks found no nulls in the required modelling fields and no duplicate state-date pair. Source: direct CSV inspection, train_model.py, import_data.py and archive_c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model is scikit-learn Gradient Boosting. It predicts next-day Temp_Avg in degrees Celsius. Four regression models and a naive persistence reference were evaluated. The saved Gradient Boosting model had test MAE 0.8760, RMSE 1.1854 and R-squared 0.9694. Model choice used the lowest RMSE. Source: train_model.py, model_info.json and model_comparison.csv.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reconstructs the same input row used at training time. It includes one to three day temperature lags, previous-day maximum, minimum, humidity and rainfall, three and seven record averages, cyclic month values, season and state. For date D it uses past records before D minus 1, so the target day's actual weather cannot leak into the forecast. Source: train_model.py and feature_service.py.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provides seven endpoints. The key endpoint is POST slash predict. It accepts state and date, validates state availability and seven historical records, checks that history is recent, builds features, calls the saved pipeline, saves the outcome to PostgreSQL and returns JSON. It returns 404 for unknown state and 422 for insufficient or stale history. Source: schemas.py, health.py, weather.py and prediction.py.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has four pages. Forecast creates a prediction and shows a recent history chart. Weather History displays state records with paging. Model Performance exposes the metadata and model comparison. Prediction History lists stored predictions with paging and a client-side state filter. The header checks backend health every 30 seconds. Source: App.tsx and all four frontend page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has two tables. Weather_data stores one daily weather record for a state and uses a unique state-date constraint. Predictions stores each generated forecast with its creation time. The project does not declare a foreign key between these tables, but weather_data supplies the forecasting inputs and predictions is the output audit trail. Source: models.py, database.py and import_data.py.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model, source data checks and frontend build passed. The build did show a size warning for the JavaScript chunk. The current local database URL points to an unavailable port, so database-dependent tests could not complete. I report those as fail or warning instead of claiming successful live API or forecast testing. Source: executed verification checks and model_info.json.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confirms local development settings only: Vite on port 5173, FastAPI on port 8000 and PostgreSQL through a connection string. CORS uses an environment-controlled allow-list. No deployment manifest or configuration confirms Vercel, Render, Neon or another production provider, so those services are intentionally not shown as implemented. Source: vite.config.ts, .env.example files, backend README and repository file 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implements a complete local full-stack workflow for next-day average-temperature forecasting across 34 state labels. It includes model training, leakage-aware feature building, API validation, storage and UI views. Future work can compare additional models, add supported weather features, extend coverage and automate reliable data updates after a production deployment is configured. Source: verified repository implementation and verification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cf0fa7ec954f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8b7e51d6144bd4" /><Relationship Type="http://schemas.openxmlformats.org/officeDocument/2006/relationships/slideLayout" Target="/ppt/slideLayouts/slideLayout1.xml" Id="Rdf23a02af5d446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23a02af5d446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935dbcc62a4daa" /><Relationship Type="http://schemas.openxmlformats.org/officeDocument/2006/relationships/notesSlide" Target="/ppt/notesSlides/notesSlide1.xml" Id="R6243b072efb749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a5efc69b2c49eb" /><Relationship Type="http://schemas.openxmlformats.org/officeDocument/2006/relationships/notesSlide" Target="/ppt/notesSlides/notesSlide2.xml" Id="R3fe1f67baf9549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28a9a70f914aef" /><Relationship Type="http://schemas.openxmlformats.org/officeDocument/2006/relationships/notesSlide" Target="/ppt/notesSlides/notesSlide3.xml" Id="R6ffa430e615847e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16b127888441ea" /><Relationship Type="http://schemas.openxmlformats.org/officeDocument/2006/relationships/notesSlide" Target="/ppt/notesSlides/notesSlide4.xml" Id="R7e103b177f20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b775c400b04ede" /><Relationship Type="http://schemas.openxmlformats.org/officeDocument/2006/relationships/notesSlide" Target="/ppt/notesSlides/notesSlide5.xml" Id="R767641d6a519416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843c91eb454f45" /><Relationship Type="http://schemas.openxmlformats.org/officeDocument/2006/relationships/notesSlide" Target="/ppt/notesSlides/notesSlide6.xml" Id="R27879b1cdf4f47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741c066b8c4790" /><Relationship Type="http://schemas.openxmlformats.org/officeDocument/2006/relationships/notesSlide" Target="/ppt/notesSlides/notesSlide7.xml" Id="R6160bb4697c5428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54fe691def54040" /><Relationship Type="http://schemas.openxmlformats.org/officeDocument/2006/relationships/notesSlide" Target="/ppt/notesSlides/notesSlide8.xml" Id="R2122b925825641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b4792d71884179" /><Relationship Type="http://schemas.openxmlformats.org/officeDocument/2006/relationships/notesSlide" Target="/ppt/notesSlides/notesSlide9.xml" Id="R6bab787066474c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86459988df4b85" /><Relationship Type="http://schemas.openxmlformats.org/officeDocument/2006/relationships/notesSlide" Target="/ppt/notesSlides/notesSlide10.xml" Id="Rb982ce0394f841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99c48de57749b2" /><Relationship Type="http://schemas.openxmlformats.org/officeDocument/2006/relationships/notesSlide" Target="/ppt/notesSlides/notesSlide11.xml" Id="R2fbad210adeb49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3d2254ec4714d70" /><Relationship Type="http://schemas.openxmlformats.org/officeDocument/2006/relationships/notesSlide" Target="/ppt/notesSlides/notesSlide12.xml" Id="R296e02273eae4e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bdc3b959fc84d54" /><Relationship Type="http://schemas.openxmlformats.org/officeDocument/2006/relationships/notesSlide" Target="/ppt/notesSlides/notesSlide13.xml" Id="R362f93935b2440d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fadba8d2cae4ebc" /><Relationship Type="http://schemas.openxmlformats.org/officeDocument/2006/relationships/notesSlide" Target="/ppt/notesSlides/notesSlide14.xml" Id="R98386b1e437d41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c0c64b33a1c402b" /><Relationship Type="http://schemas.openxmlformats.org/officeDocument/2006/relationships/notesSlide" Target="/ppt/notesSlides/notesSlide15.xml" Id="R3ff6c7bb204f46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b6e65ce2a64bbd" /><Relationship Type="http://schemas.openxmlformats.org/officeDocument/2006/relationships/notesSlide" Target="/ppt/notesSlides/notesSlide16.xml" Id="Rf186260fa9094b3f" /></Relationships>
</file>

<file path=ppt/slides/slide1.xml><?xml version="1.0" encoding="utf-8"?>
<p:sld xmlns:p="http://schemas.openxmlformats.org/presentationml/2006/main">
  <p:cSld>
    <p:bg>
      <p:bgPr>
        <a:solidFill xmlns:a="http://schemas.openxmlformats.org/drawingml/2006/main">
          <a:srgbClr val="0B254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5F6E3D-865C-4557-9F53-A36A763618D7}"/>
              </a:ext>
            </a:extLst>
          </p:cNvPr>
          <p:cNvSpPr>
            <a:spLocks xmlns:a="http://schemas.openxmlformats.org/drawingml/2006/main" noGrp="1"/>
          </p:cNvSpPr>
          <p:nvPr/>
        </p:nvSpPr>
        <p:spPr>
          <a:xfrm xmlns:a="http://schemas.openxmlformats.org/drawingml/2006/main">
            <a:off x="685800" y="876300"/>
            <a:ext cx="742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Weather Forecasting</a:t>
            </a:r>
          </a:p>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Using Machine Learning</a:t>
            </a:r>
          </a:p>
        </p:txBody>
      </p:sp>
      <p:sp>
        <p:nvSpPr>
          <p:cNvPr id="2" name="">
            <a:extLst xmlns:a="http://schemas.openxmlformats.org/drawingml/2006/main">
              <a:ext uri="{FF2B5EF4-FFF2-40B4-BE49-F238E27FC236}">
                <a16:creationId xmlns:a16="http://schemas.microsoft.com/office/drawing/2014/main" id="{FACE36E1-DD8F-4041-8D2A-94E55CAB9454}"/>
              </a:ext>
            </a:extLst>
          </p:cNvPr>
          <p:cNvSpPr>
            <a:spLocks xmlns:a="http://schemas.openxmlformats.org/drawingml/2006/main" noGrp="1"/>
          </p:cNvSpPr>
          <p:nvPr/>
        </p:nvSpPr>
        <p:spPr>
          <a:xfrm xmlns:a="http://schemas.openxmlformats.org/drawingml/2006/main">
            <a:off x="723900" y="2286000"/>
            <a:ext cx="457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B9DBEE"/>
                </a:solidFill>
                <a:latin typeface="Arial"/>
                <a:ea typeface="Arial"/>
                <a:cs typeface="Arial"/>
              </a:defRPr>
            </a:pPr>
            <a:r>
              <a:rPr sz="1500" b="0">
                <a:solidFill>
                  <a:srgbClr val="B9DBEE"/>
                </a:solidFill>
                <a:latin typeface="Arial"/>
                <a:ea typeface="Arial"/>
                <a:cs typeface="Arial"/>
              </a:rPr>
              <a:t>Final-Year College Project Presentation</a:t>
            </a:r>
          </a:p>
        </p:txBody>
      </p:sp>
      <p:sp>
        <p:nvSpPr>
          <p:cNvPr id="3" name="">
            <a:extLst xmlns:a="http://schemas.openxmlformats.org/drawingml/2006/main">
              <a:ext uri="{FF2B5EF4-FFF2-40B4-BE49-F238E27FC236}">
                <a16:creationId xmlns:a16="http://schemas.microsoft.com/office/drawing/2014/main" id="{7D61A40C-F104-4C78-889E-B445E82AAC79}"/>
              </a:ext>
            </a:extLst>
          </p:cNvPr>
          <p:cNvSpPr>
            <a:spLocks xmlns:a="http://schemas.openxmlformats.org/drawingml/2006/main" noGrp="1"/>
          </p:cNvSpPr>
          <p:nvPr/>
        </p:nvSpPr>
        <p:spPr>
          <a:xfrm xmlns:a="http://schemas.openxmlformats.org/drawingml/2006/main">
            <a:off x="723900" y="2819400"/>
            <a:ext cx="1047750" cy="66675"/>
          </a:xfrm>
          <a:prstGeom xmlns:a="http://schemas.openxmlformats.org/drawingml/2006/main" prst="rect">
            <a:avLst/>
          </a:prstGeom>
          <a:solidFill xmlns:a="http://schemas.openxmlformats.org/drawingml/2006/main">
            <a:srgbClr val="00A6A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CA8B65-7E1C-4BF2-BBC1-B06B96ADB2BD}"/>
              </a:ext>
            </a:extLst>
          </p:cNvPr>
          <p:cNvSpPr>
            <a:spLocks xmlns:a="http://schemas.openxmlformats.org/drawingml/2006/main" noGrp="1"/>
          </p:cNvSpPr>
          <p:nvPr/>
        </p:nvSpPr>
        <p:spPr>
          <a:xfrm xmlns:a="http://schemas.openxmlformats.org/drawingml/2006/main">
            <a:off x="742950" y="3476625"/>
            <a:ext cx="5715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Student Name: [Name]</a:t>
            </a:r>
          </a:p>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USN: [USN]</a:t>
            </a:r>
          </a:p>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Department: [Department]</a:t>
            </a:r>
          </a:p>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College: [College]</a:t>
            </a:r>
          </a:p>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Guide: [Guide]</a:t>
            </a:r>
          </a:p>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Academic Year: [Year]</a:t>
            </a:r>
          </a:p>
        </p:txBody>
      </p:sp>
      <p:sp>
        <p:nvSpPr>
          <p:cNvPr id="5" name="">
            <a:extLst xmlns:a="http://schemas.openxmlformats.org/drawingml/2006/main">
              <a:ext uri="{FF2B5EF4-FFF2-40B4-BE49-F238E27FC236}">
                <a16:creationId xmlns:a16="http://schemas.microsoft.com/office/drawing/2014/main" id="{46EFB3DC-D215-4191-B1FA-85977D2A583F}"/>
              </a:ext>
            </a:extLst>
          </p:cNvPr>
          <p:cNvSpPr>
            <a:spLocks xmlns:a="http://schemas.openxmlformats.org/drawingml/2006/main" noGrp="1"/>
          </p:cNvSpPr>
          <p:nvPr/>
        </p:nvSpPr>
        <p:spPr>
          <a:xfrm xmlns:a="http://schemas.openxmlformats.org/drawingml/2006/main">
            <a:off x="8191500" y="1190625"/>
            <a:ext cx="2857500" cy="1143000"/>
          </a:xfrm>
          <a:prstGeom xmlns:a="http://schemas.openxmlformats.org/drawingml/2006/main" prst="roundRect">
            <a:avLst>
              <a:gd name="adj" fmla="val 10000"/>
            </a:avLst>
          </a:prstGeom>
          <a:solidFill xmlns:a="http://schemas.openxmlformats.org/drawingml/2006/main">
            <a:srgbClr val="153B62"/>
          </a:solidFill>
          <a:ln xmlns:a="http://schemas.openxmlformats.org/drawingml/2006/main" w="9525">
            <a:solidFill>
              <a:srgbClr val="2A577E"/>
            </a:solid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D9F2FF"/>
                </a:solidFill>
                <a:latin typeface="Arial"/>
                <a:ea typeface="Arial"/>
                <a:cs typeface="Arial"/>
              </a:defRPr>
            </a:pPr>
            <a:r>
              <a:rPr sz="1425" b="1">
                <a:solidFill>
                  <a:srgbClr val="D9F2FF"/>
                </a:solidFill>
                <a:latin typeface="Arial"/>
                <a:ea typeface="Arial"/>
                <a:cs typeface="Arial"/>
              </a:rPr>
              <a:t>Next-day average temperature forecasting</a:t>
            </a:r>
          </a:p>
          <a:p xmlns:a="http://schemas.openxmlformats.org/drawingml/2006/main">
            <a:pPr>
              <a:defRPr sz="1425" b="1">
                <a:solidFill>
                  <a:srgbClr val="D9F2FF"/>
                </a:solidFill>
                <a:latin typeface="Arial"/>
                <a:ea typeface="Arial"/>
                <a:cs typeface="Arial"/>
              </a:defRPr>
            </a:pPr>
            <a:r>
              <a:rPr sz="1425" b="1">
                <a:solidFill>
                  <a:srgbClr val="D9F2FF"/>
                </a:solidFill>
                <a:latin typeface="Arial"/>
                <a:ea typeface="Arial"/>
                <a:cs typeface="Arial"/>
              </a:rPr>
              <a:t>for Indian states</a:t>
            </a:r>
          </a:p>
        </p:txBody>
      </p:sp>
      <p:sp>
        <p:nvSpPr>
          <p:cNvPr id="6" name="">
            <a:extLst xmlns:a="http://schemas.openxmlformats.org/drawingml/2006/main">
              <a:ext uri="{FF2B5EF4-FFF2-40B4-BE49-F238E27FC236}">
                <a16:creationId xmlns:a16="http://schemas.microsoft.com/office/drawing/2014/main" id="{42CE4D57-82E2-4185-A6FB-B62E72AA3210}"/>
              </a:ext>
            </a:extLst>
          </p:cNvPr>
          <p:cNvSpPr>
            <a:spLocks xmlns:a="http://schemas.openxmlformats.org/drawingml/2006/main" noGrp="1"/>
          </p:cNvSpPr>
          <p:nvPr/>
        </p:nvSpPr>
        <p:spPr>
          <a:xfrm xmlns:a="http://schemas.openxmlformats.org/drawingml/2006/main">
            <a:off x="8191500" y="27622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B9DBEE"/>
                </a:solidFill>
                <a:latin typeface="Arial"/>
                <a:ea typeface="Arial"/>
                <a:cs typeface="Arial"/>
              </a:defRPr>
            </a:pPr>
            <a:r>
              <a:rPr sz="1050" b="0">
                <a:solidFill>
                  <a:srgbClr val="B9DBEE"/>
                </a:solidFill>
                <a:latin typeface="Arial"/>
                <a:ea typeface="Arial"/>
                <a:cs typeface="Arial"/>
              </a:rPr>
              <a:t>Repository-verified presentation</a:t>
            </a:r>
          </a:p>
        </p:txBody>
      </p:sp>
    </p:spTree>
    <p:extLst>
      <p:ext uri="{BB962C8B-B14F-4D97-AF65-F5344CB8AC3E}">
        <p14:creationId xmlns:p14="http://schemas.microsoft.com/office/powerpoint/2010/main" val="658554801"/>
      </p:ext>
    </p:extLst>
  </p:cSld>
</p:sld>
</file>

<file path=ppt/slides/slide2.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1A03D6C-C7CA-4721-B442-8D3314CE5698}"/>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EE70CB81-28C5-44E9-AF79-5C2807E207EA}"/>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EFC2B5-D5B7-4CB5-A8F3-CA66A66A1048}"/>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A local full-stack application for next-day average-temperature forecasting</a:t>
            </a:r>
          </a:p>
        </p:txBody>
      </p:sp>
      <p:sp>
        <p:nvSpPr>
          <p:cNvPr id="4" name="">
            <a:extLst xmlns:a="http://schemas.openxmlformats.org/drawingml/2006/main">
              <a:ext uri="{FF2B5EF4-FFF2-40B4-BE49-F238E27FC236}">
                <a16:creationId xmlns:a16="http://schemas.microsoft.com/office/drawing/2014/main" id="{14DA6AAA-9D5D-4F27-84D8-1F979840BD80}"/>
              </a:ext>
            </a:extLst>
          </p:cNvPr>
          <p:cNvSpPr>
            <a:spLocks xmlns:a="http://schemas.openxmlformats.org/drawingml/2006/main" noGrp="1"/>
          </p:cNvSpPr>
          <p:nvPr/>
        </p:nvSpPr>
        <p:spPr>
          <a:xfrm xmlns:a="http://schemas.openxmlformats.org/drawingml/2006/main">
            <a:off x="762000" y="1762125"/>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725" b="1">
                <a:solidFill>
                  <a:srgbClr val="0B2545"/>
                </a:solidFill>
                <a:latin typeface="Arial"/>
                <a:ea typeface="Arial"/>
                <a:cs typeface="Arial"/>
              </a:defRPr>
            </a:pPr>
            <a:r>
              <a:rPr sz="1725" b="1">
                <a:solidFill>
                  <a:srgbClr val="0B2545"/>
                </a:solidFill>
                <a:latin typeface="Arial"/>
                <a:ea typeface="Arial"/>
                <a:cs typeface="Arial"/>
              </a:rPr>
              <a:t>Weather forecasting estimates future atmospheric conditions from observations collected over time.</a:t>
            </a:r>
          </a:p>
        </p:txBody>
      </p:sp>
      <p:sp>
        <p:nvSpPr>
          <p:cNvPr id="5" name="">
            <a:extLst xmlns:a="http://schemas.openxmlformats.org/drawingml/2006/main">
              <a:ext uri="{FF2B5EF4-FFF2-40B4-BE49-F238E27FC236}">
                <a16:creationId xmlns:a16="http://schemas.microsoft.com/office/drawing/2014/main" id="{F92B1CF9-2EEE-40A0-95C9-8AC5520B168A}"/>
              </a:ext>
            </a:extLst>
          </p:cNvPr>
          <p:cNvSpPr>
            <a:spLocks xmlns:a="http://schemas.openxmlformats.org/drawingml/2006/main" noGrp="1"/>
          </p:cNvSpPr>
          <p:nvPr/>
        </p:nvSpPr>
        <p:spPr>
          <a:xfrm xmlns:a="http://schemas.openxmlformats.org/drawingml/2006/main">
            <a:off x="762000" y="3076575"/>
            <a:ext cx="476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17324D"/>
                </a:solidFill>
                <a:latin typeface="Arial"/>
                <a:ea typeface="Arial"/>
                <a:cs typeface="Arial"/>
              </a:defRPr>
            </a:pPr>
            <a:r>
              <a:rPr sz="1425" b="0">
                <a:solidFill>
                  <a:srgbClr val="17324D"/>
                </a:solidFill>
                <a:latin typeface="Arial"/>
                <a:ea typeface="Arial"/>
                <a:cs typeface="Arial"/>
              </a:rPr>
              <a:t>Machine learning learns relationships between historical weather patterns and the next day's average temperature.</a:t>
            </a:r>
          </a:p>
        </p:txBody>
      </p:sp>
      <p:sp>
        <p:nvSpPr>
          <p:cNvPr id="6" name="">
            <a:extLst xmlns:a="http://schemas.openxmlformats.org/drawingml/2006/main">
              <a:ext uri="{FF2B5EF4-FFF2-40B4-BE49-F238E27FC236}">
                <a16:creationId xmlns:a16="http://schemas.microsoft.com/office/drawing/2014/main" id="{9AE02FCD-DC00-463D-B4A9-9611FA289ECD}"/>
              </a:ext>
            </a:extLst>
          </p:cNvPr>
          <p:cNvSpPr>
            <a:spLocks xmlns:a="http://schemas.openxmlformats.org/drawingml/2006/main" noGrp="1"/>
          </p:cNvSpPr>
          <p:nvPr/>
        </p:nvSpPr>
        <p:spPr>
          <a:xfrm xmlns:a="http://schemas.openxmlformats.org/drawingml/2006/main">
            <a:off x="6477000" y="16954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0077B6"/>
                </a:solidFill>
                <a:latin typeface="Arial"/>
                <a:ea typeface="Arial"/>
                <a:cs typeface="Arial"/>
              </a:defRPr>
            </a:pPr>
            <a:r>
              <a:rPr sz="1650" b="1">
                <a:solidFill>
                  <a:srgbClr val="0077B6"/>
                </a:solidFill>
                <a:latin typeface="Arial"/>
                <a:ea typeface="Arial"/>
                <a:cs typeface="Arial"/>
              </a:rPr>
              <a:t>The application provides</a:t>
            </a:r>
          </a:p>
        </p:txBody>
      </p:sp>
      <p:sp>
        <p:nvSpPr>
          <p:cNvPr id="7" name="">
            <a:extLst xmlns:a="http://schemas.openxmlformats.org/drawingml/2006/main">
              <a:ext uri="{FF2B5EF4-FFF2-40B4-BE49-F238E27FC236}">
                <a16:creationId xmlns:a16="http://schemas.microsoft.com/office/drawing/2014/main" id="{062A0468-CD2F-4A8F-A5C4-FC272DBB0FF8}"/>
              </a:ext>
            </a:extLst>
          </p:cNvPr>
          <p:cNvSpPr>
            <a:spLocks xmlns:a="http://schemas.openxmlformats.org/drawingml/2006/main" noGrp="1"/>
          </p:cNvSpPr>
          <p:nvPr/>
        </p:nvSpPr>
        <p:spPr>
          <a:xfrm xmlns:a="http://schemas.openxmlformats.org/drawingml/2006/main">
            <a:off x="6477000" y="2247900"/>
            <a:ext cx="4000500" cy="4572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State and date forecast request</a:t>
            </a:r>
          </a:p>
        </p:txBody>
      </p:sp>
      <p:sp>
        <p:nvSpPr>
          <p:cNvPr id="8" name="">
            <a:extLst xmlns:a="http://schemas.openxmlformats.org/drawingml/2006/main">
              <a:ext uri="{FF2B5EF4-FFF2-40B4-BE49-F238E27FC236}">
                <a16:creationId xmlns:a16="http://schemas.microsoft.com/office/drawing/2014/main" id="{44E064E9-F4A4-4866-BB74-34008C9547D9}"/>
              </a:ext>
            </a:extLst>
          </p:cNvPr>
          <p:cNvSpPr>
            <a:spLocks xmlns:a="http://schemas.openxmlformats.org/drawingml/2006/main" noGrp="1"/>
          </p:cNvSpPr>
          <p:nvPr/>
        </p:nvSpPr>
        <p:spPr>
          <a:xfrm xmlns:a="http://schemas.openxmlformats.org/drawingml/2006/main">
            <a:off x="6477000" y="2933700"/>
            <a:ext cx="4000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Historical weather visualisation</a:t>
            </a:r>
          </a:p>
        </p:txBody>
      </p:sp>
      <p:sp>
        <p:nvSpPr>
          <p:cNvPr id="9" name="">
            <a:extLst xmlns:a="http://schemas.openxmlformats.org/drawingml/2006/main">
              <a:ext uri="{FF2B5EF4-FFF2-40B4-BE49-F238E27FC236}">
                <a16:creationId xmlns:a16="http://schemas.microsoft.com/office/drawing/2014/main" id="{52FEEBDC-F770-4A3B-BBE7-72BB46B8F04A}"/>
              </a:ext>
            </a:extLst>
          </p:cNvPr>
          <p:cNvSpPr>
            <a:spLocks xmlns:a="http://schemas.openxmlformats.org/drawingml/2006/main" noGrp="1"/>
          </p:cNvSpPr>
          <p:nvPr/>
        </p:nvSpPr>
        <p:spPr>
          <a:xfrm xmlns:a="http://schemas.openxmlformats.org/drawingml/2006/main">
            <a:off x="6477000" y="3619500"/>
            <a:ext cx="4000500" cy="4572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Model metrics and input features</a:t>
            </a:r>
          </a:p>
        </p:txBody>
      </p:sp>
      <p:sp>
        <p:nvSpPr>
          <p:cNvPr id="10" name="">
            <a:extLst xmlns:a="http://schemas.openxmlformats.org/drawingml/2006/main">
              <a:ext uri="{FF2B5EF4-FFF2-40B4-BE49-F238E27FC236}">
                <a16:creationId xmlns:a16="http://schemas.microsoft.com/office/drawing/2014/main" id="{4875F057-F6CF-4B85-BB83-1680F7584E79}"/>
              </a:ext>
            </a:extLst>
          </p:cNvPr>
          <p:cNvSpPr>
            <a:spLocks xmlns:a="http://schemas.openxmlformats.org/drawingml/2006/main" noGrp="1"/>
          </p:cNvSpPr>
          <p:nvPr/>
        </p:nvSpPr>
        <p:spPr>
          <a:xfrm xmlns:a="http://schemas.openxmlformats.org/drawingml/2006/main">
            <a:off x="6477000" y="4305300"/>
            <a:ext cx="4000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Stored prediction history</a:t>
            </a:r>
          </a:p>
        </p:txBody>
      </p:sp>
      <p:sp>
        <p:nvSpPr>
          <p:cNvPr id="11" name="">
            <a:extLst xmlns:a="http://schemas.openxmlformats.org/drawingml/2006/main">
              <a:ext uri="{FF2B5EF4-FFF2-40B4-BE49-F238E27FC236}">
                <a16:creationId xmlns:a16="http://schemas.microsoft.com/office/drawing/2014/main" id="{8532DAFF-A56C-489B-B601-6236DE72250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2" name="">
            <a:extLst xmlns:a="http://schemas.openxmlformats.org/drawingml/2006/main">
              <a:ext uri="{FF2B5EF4-FFF2-40B4-BE49-F238E27FC236}">
                <a16:creationId xmlns:a16="http://schemas.microsoft.com/office/drawing/2014/main" id="{4E3C4B14-E59D-41F6-8561-B09CCA08B7AC}"/>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3" name="">
            <a:extLst xmlns:a="http://schemas.openxmlformats.org/drawingml/2006/main">
              <a:ext uri="{FF2B5EF4-FFF2-40B4-BE49-F238E27FC236}">
                <a16:creationId xmlns:a16="http://schemas.microsoft.com/office/drawing/2014/main" id="{02F83693-FB29-4EAE-A261-9115FB1564BD}"/>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02</a:t>
            </a:r>
          </a:p>
        </p:txBody>
      </p:sp>
    </p:spTree>
    <p:extLst>
      <p:ext uri="{BB962C8B-B14F-4D97-AF65-F5344CB8AC3E}">
        <p14:creationId xmlns:p14="http://schemas.microsoft.com/office/powerpoint/2010/main" val="1373950548"/>
      </p:ext>
    </p:extLst>
  </p:cSld>
</p:sld>
</file>

<file path=ppt/slides/slide3.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61DB35-DB37-4D24-84D1-23BA73294BA1}"/>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Problem Statement</a:t>
            </a:r>
          </a:p>
        </p:txBody>
      </p:sp>
      <p:sp>
        <p:nvSpPr>
          <p:cNvPr id="2" name="">
            <a:extLst xmlns:a="http://schemas.openxmlformats.org/drawingml/2006/main">
              <a:ext uri="{FF2B5EF4-FFF2-40B4-BE49-F238E27FC236}">
                <a16:creationId xmlns:a16="http://schemas.microsoft.com/office/drawing/2014/main" id="{52F6AB71-1313-4BE2-811C-BCC49568ABD2}"/>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707161-2386-4877-AEB7-A4ED8715D829}"/>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Repository-defined problem scope</a:t>
            </a:r>
          </a:p>
        </p:txBody>
      </p:sp>
      <p:sp>
        <p:nvSpPr>
          <p:cNvPr id="4" name="">
            <a:extLst xmlns:a="http://schemas.openxmlformats.org/drawingml/2006/main">
              <a:ext uri="{FF2B5EF4-FFF2-40B4-BE49-F238E27FC236}">
                <a16:creationId xmlns:a16="http://schemas.microsoft.com/office/drawing/2014/main" id="{58749A31-F048-4A89-8B6C-E9A51EE5BAB8}"/>
              </a:ext>
            </a:extLst>
          </p:cNvPr>
          <p:cNvSpPr>
            <a:spLocks xmlns:a="http://schemas.openxmlformats.org/drawingml/2006/main" noGrp="1"/>
          </p:cNvSpPr>
          <p:nvPr/>
        </p:nvSpPr>
        <p:spPr>
          <a:xfrm xmlns:a="http://schemas.openxmlformats.org/drawingml/2006/main">
            <a:off x="857250" y="1809750"/>
            <a:ext cx="962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79"/>
          </a:bodyPr>
          <a:lstStyle xmlns:a="http://schemas.openxmlformats.org/drawingml/2006/main"/>
          <a:p xmlns:a="http://schemas.openxmlformats.org/drawingml/2006/main">
            <a:pPr>
              <a:defRPr sz="2175" b="1">
                <a:solidFill>
                  <a:srgbClr val="0B2545"/>
                </a:solidFill>
                <a:latin typeface="Arial"/>
                <a:ea typeface="Arial"/>
                <a:cs typeface="Arial"/>
              </a:defRPr>
            </a:pPr>
            <a:r>
              <a:rPr sz="2175" b="1">
                <a:solidFill>
                  <a:srgbClr val="0B2545"/>
                </a:solidFill>
                <a:latin typeface="Arial"/>
                <a:ea typeface="Arial"/>
                <a:cs typeface="Arial"/>
              </a:rPr>
              <a:t>How can stored state-level weather observations be converted into a validated next-day average-temperature forecast that a user can request through a web application?</a:t>
            </a:r>
          </a:p>
        </p:txBody>
      </p:sp>
      <p:sp>
        <p:nvSpPr>
          <p:cNvPr id="5" name="">
            <a:extLst xmlns:a="http://schemas.openxmlformats.org/drawingml/2006/main">
              <a:ext uri="{FF2B5EF4-FFF2-40B4-BE49-F238E27FC236}">
                <a16:creationId xmlns:a16="http://schemas.microsoft.com/office/drawing/2014/main" id="{9E68E5D4-B32E-4060-9FB3-CBCC8B596B16}"/>
              </a:ext>
            </a:extLst>
          </p:cNvPr>
          <p:cNvSpPr>
            <a:spLocks xmlns:a="http://schemas.openxmlformats.org/drawingml/2006/main" noGrp="1"/>
          </p:cNvSpPr>
          <p:nvPr/>
        </p:nvSpPr>
        <p:spPr>
          <a:xfrm xmlns:a="http://schemas.openxmlformats.org/drawingml/2006/main">
            <a:off x="857250" y="33813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077B6"/>
                </a:solidFill>
                <a:latin typeface="Arial"/>
                <a:ea typeface="Arial"/>
                <a:cs typeface="Arial"/>
              </a:defRPr>
            </a:pPr>
            <a:r>
              <a:rPr sz="1350" b="1">
                <a:solidFill>
                  <a:srgbClr val="0077B6"/>
                </a:solidFill>
                <a:latin typeface="Arial"/>
                <a:ea typeface="Arial"/>
                <a:cs typeface="Arial"/>
              </a:rPr>
              <a:t>Training-serving consistency</a:t>
            </a:r>
          </a:p>
        </p:txBody>
      </p:sp>
      <p:sp>
        <p:nvSpPr>
          <p:cNvPr id="6" name="">
            <a:extLst xmlns:a="http://schemas.openxmlformats.org/drawingml/2006/main">
              <a:ext uri="{FF2B5EF4-FFF2-40B4-BE49-F238E27FC236}">
                <a16:creationId xmlns:a16="http://schemas.microsoft.com/office/drawing/2014/main" id="{F7FF064C-3DB1-40BC-BB25-391BDE1D956C}"/>
              </a:ext>
            </a:extLst>
          </p:cNvPr>
          <p:cNvSpPr>
            <a:spLocks xmlns:a="http://schemas.openxmlformats.org/drawingml/2006/main" noGrp="1"/>
          </p:cNvSpPr>
          <p:nvPr/>
        </p:nvSpPr>
        <p:spPr>
          <a:xfrm xmlns:a="http://schemas.openxmlformats.org/drawingml/2006/main">
            <a:off x="857250" y="37433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The API must construct the same 13 features used by the saved model.</a:t>
            </a:r>
          </a:p>
        </p:txBody>
      </p:sp>
      <p:sp>
        <p:nvSpPr>
          <p:cNvPr id="7" name="">
            <a:extLst xmlns:a="http://schemas.openxmlformats.org/drawingml/2006/main">
              <a:ext uri="{FF2B5EF4-FFF2-40B4-BE49-F238E27FC236}">
                <a16:creationId xmlns:a16="http://schemas.microsoft.com/office/drawing/2014/main" id="{949FF19E-DA7E-4FE3-8059-A3F299A8D3D2}"/>
              </a:ext>
            </a:extLst>
          </p:cNvPr>
          <p:cNvSpPr>
            <a:spLocks xmlns:a="http://schemas.openxmlformats.org/drawingml/2006/main" noGrp="1"/>
          </p:cNvSpPr>
          <p:nvPr/>
        </p:nvSpPr>
        <p:spPr>
          <a:xfrm xmlns:a="http://schemas.openxmlformats.org/drawingml/2006/main">
            <a:off x="6000750" y="338137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077B6"/>
                </a:solidFill>
                <a:latin typeface="Arial"/>
                <a:ea typeface="Arial"/>
                <a:cs typeface="Arial"/>
              </a:defRPr>
            </a:pPr>
            <a:r>
              <a:rPr sz="1350" b="1">
                <a:solidFill>
                  <a:srgbClr val="0077B6"/>
                </a:solidFill>
                <a:latin typeface="Arial"/>
                <a:ea typeface="Arial"/>
                <a:cs typeface="Arial"/>
              </a:rPr>
              <a:t>No future-data leakage</a:t>
            </a:r>
          </a:p>
        </p:txBody>
      </p:sp>
      <p:sp>
        <p:nvSpPr>
          <p:cNvPr id="8" name="">
            <a:extLst xmlns:a="http://schemas.openxmlformats.org/drawingml/2006/main">
              <a:ext uri="{FF2B5EF4-FFF2-40B4-BE49-F238E27FC236}">
                <a16:creationId xmlns:a16="http://schemas.microsoft.com/office/drawing/2014/main" id="{7A87B743-B6AB-4003-BFEB-39BEC2F610EC}"/>
              </a:ext>
            </a:extLst>
          </p:cNvPr>
          <p:cNvSpPr>
            <a:spLocks xmlns:a="http://schemas.openxmlformats.org/drawingml/2006/main" noGrp="1"/>
          </p:cNvSpPr>
          <p:nvPr/>
        </p:nvSpPr>
        <p:spPr>
          <a:xfrm xmlns:a="http://schemas.openxmlformats.org/drawingml/2006/main">
            <a:off x="6000750" y="374332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Prediction features must use only historical records before the forecast as-of date.</a:t>
            </a:r>
          </a:p>
        </p:txBody>
      </p:sp>
      <p:sp>
        <p:nvSpPr>
          <p:cNvPr id="9" name="">
            <a:extLst xmlns:a="http://schemas.openxmlformats.org/drawingml/2006/main">
              <a:ext uri="{FF2B5EF4-FFF2-40B4-BE49-F238E27FC236}">
                <a16:creationId xmlns:a16="http://schemas.microsoft.com/office/drawing/2014/main" id="{37BB037B-87E5-4B04-B8C1-FFA44CFB680C}"/>
              </a:ext>
            </a:extLst>
          </p:cNvPr>
          <p:cNvSpPr>
            <a:spLocks xmlns:a="http://schemas.openxmlformats.org/drawingml/2006/main" noGrp="1"/>
          </p:cNvSpPr>
          <p:nvPr/>
        </p:nvSpPr>
        <p:spPr>
          <a:xfrm xmlns:a="http://schemas.openxmlformats.org/drawingml/2006/main">
            <a:off x="857250" y="45434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077B6"/>
                </a:solidFill>
                <a:latin typeface="Arial"/>
                <a:ea typeface="Arial"/>
                <a:cs typeface="Arial"/>
              </a:defRPr>
            </a:pPr>
            <a:r>
              <a:rPr sz="1350" b="1">
                <a:solidFill>
                  <a:srgbClr val="0077B6"/>
                </a:solidFill>
                <a:latin typeface="Arial"/>
                <a:ea typeface="Arial"/>
                <a:cs typeface="Arial"/>
              </a:rPr>
              <a:t>Usable application workflow</a:t>
            </a:r>
          </a:p>
        </p:txBody>
      </p:sp>
      <p:sp>
        <p:nvSpPr>
          <p:cNvPr id="10" name="">
            <a:extLst xmlns:a="http://schemas.openxmlformats.org/drawingml/2006/main">
              <a:ext uri="{FF2B5EF4-FFF2-40B4-BE49-F238E27FC236}">
                <a16:creationId xmlns:a16="http://schemas.microsoft.com/office/drawing/2014/main" id="{CCD5A449-EECA-4AE4-89D3-FE7EF77EFD2E}"/>
              </a:ext>
            </a:extLst>
          </p:cNvPr>
          <p:cNvSpPr>
            <a:spLocks xmlns:a="http://schemas.openxmlformats.org/drawingml/2006/main" noGrp="1"/>
          </p:cNvSpPr>
          <p:nvPr/>
        </p:nvSpPr>
        <p:spPr>
          <a:xfrm xmlns:a="http://schemas.openxmlformats.org/drawingml/2006/main">
            <a:off x="857250" y="490537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Users need forecast, history, model-information and prediction-history views.</a:t>
            </a:r>
          </a:p>
        </p:txBody>
      </p:sp>
      <p:sp>
        <p:nvSpPr>
          <p:cNvPr id="11" name="">
            <a:extLst xmlns:a="http://schemas.openxmlformats.org/drawingml/2006/main">
              <a:ext uri="{FF2B5EF4-FFF2-40B4-BE49-F238E27FC236}">
                <a16:creationId xmlns:a16="http://schemas.microsoft.com/office/drawing/2014/main" id="{946AD757-3CD5-439C-A3CF-B39336F25E4D}"/>
              </a:ext>
            </a:extLst>
          </p:cNvPr>
          <p:cNvSpPr>
            <a:spLocks xmlns:a="http://schemas.openxmlformats.org/drawingml/2006/main" noGrp="1"/>
          </p:cNvSpPr>
          <p:nvPr/>
        </p:nvSpPr>
        <p:spPr>
          <a:xfrm xmlns:a="http://schemas.openxmlformats.org/drawingml/2006/main">
            <a:off x="6000750" y="45434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1">
                <a:solidFill>
                  <a:srgbClr val="0077B6"/>
                </a:solidFill>
                <a:latin typeface="Arial"/>
                <a:ea typeface="Arial"/>
                <a:cs typeface="Arial"/>
              </a:defRPr>
            </a:pPr>
            <a:r>
              <a:rPr sz="1350" b="1">
                <a:solidFill>
                  <a:srgbClr val="0077B6"/>
                </a:solidFill>
                <a:latin typeface="Arial"/>
                <a:ea typeface="Arial"/>
                <a:cs typeface="Arial"/>
              </a:rPr>
              <a:t>Auditable outputs</a:t>
            </a:r>
          </a:p>
        </p:txBody>
      </p:sp>
      <p:sp>
        <p:nvSpPr>
          <p:cNvPr id="12" name="">
            <a:extLst xmlns:a="http://schemas.openxmlformats.org/drawingml/2006/main">
              <a:ext uri="{FF2B5EF4-FFF2-40B4-BE49-F238E27FC236}">
                <a16:creationId xmlns:a16="http://schemas.microsoft.com/office/drawing/2014/main" id="{F42A2846-13E3-4362-948E-F567B5FAA9A2}"/>
              </a:ext>
            </a:extLst>
          </p:cNvPr>
          <p:cNvSpPr>
            <a:spLocks xmlns:a="http://schemas.openxmlformats.org/drawingml/2006/main" noGrp="1"/>
          </p:cNvSpPr>
          <p:nvPr/>
        </p:nvSpPr>
        <p:spPr>
          <a:xfrm xmlns:a="http://schemas.openxmlformats.org/drawingml/2006/main">
            <a:off x="6000750" y="4905375"/>
            <a:ext cx="4476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Each successful forecast is stored in the predictions table.</a:t>
            </a:r>
          </a:p>
        </p:txBody>
      </p:sp>
      <p:sp>
        <p:nvSpPr>
          <p:cNvPr id="13" name="">
            <a:extLst xmlns:a="http://schemas.openxmlformats.org/drawingml/2006/main">
              <a:ext uri="{FF2B5EF4-FFF2-40B4-BE49-F238E27FC236}">
                <a16:creationId xmlns:a16="http://schemas.microsoft.com/office/drawing/2014/main" id="{5E11E992-DCBB-49E3-AD2A-B67DDD39EDB8}"/>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4" name="">
            <a:extLst xmlns:a="http://schemas.openxmlformats.org/drawingml/2006/main">
              <a:ext uri="{FF2B5EF4-FFF2-40B4-BE49-F238E27FC236}">
                <a16:creationId xmlns:a16="http://schemas.microsoft.com/office/drawing/2014/main" id="{38C06438-B4D2-49A3-B93C-7A8CE1B69709}"/>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5" name="">
            <a:extLst xmlns:a="http://schemas.openxmlformats.org/drawingml/2006/main">
              <a:ext uri="{FF2B5EF4-FFF2-40B4-BE49-F238E27FC236}">
                <a16:creationId xmlns:a16="http://schemas.microsoft.com/office/drawing/2014/main" id="{E4ED59BD-B6A9-4603-A9BA-0C950F3EAC60}"/>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03</a:t>
            </a:r>
          </a:p>
        </p:txBody>
      </p:sp>
    </p:spTree>
    <p:extLst>
      <p:ext uri="{BB962C8B-B14F-4D97-AF65-F5344CB8AC3E}">
        <p14:creationId xmlns:p14="http://schemas.microsoft.com/office/powerpoint/2010/main" val="1952918532"/>
      </p:ext>
    </p:extLst>
  </p:cSld>
</p:sld>
</file>

<file path=ppt/slides/slide4.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ADD0CDF-FE8D-40C9-B754-952C7F9421A1}"/>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Objectives</a:t>
            </a:r>
          </a:p>
        </p:txBody>
      </p:sp>
      <p:sp>
        <p:nvSpPr>
          <p:cNvPr id="2" name="">
            <a:extLst xmlns:a="http://schemas.openxmlformats.org/drawingml/2006/main">
              <a:ext uri="{FF2B5EF4-FFF2-40B4-BE49-F238E27FC236}">
                <a16:creationId xmlns:a16="http://schemas.microsoft.com/office/drawing/2014/main" id="{2C6A4748-146E-479A-B100-18CE80E102B6}"/>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51B0DC9-058B-4CDA-944E-09312E841A21}"/>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Objectives derived from the implemented code</a:t>
            </a:r>
          </a:p>
        </p:txBody>
      </p:sp>
      <p:sp>
        <p:nvSpPr>
          <p:cNvPr id="4" name="">
            <a:extLst xmlns:a="http://schemas.openxmlformats.org/drawingml/2006/main">
              <a:ext uri="{FF2B5EF4-FFF2-40B4-BE49-F238E27FC236}">
                <a16:creationId xmlns:a16="http://schemas.microsoft.com/office/drawing/2014/main" id="{B8236377-7AB4-4B81-B10B-C07AEBFBDC79}"/>
              </a:ext>
            </a:extLst>
          </p:cNvPr>
          <p:cNvSpPr>
            <a:spLocks xmlns:a="http://schemas.openxmlformats.org/drawingml/2006/main" noGrp="1"/>
          </p:cNvSpPr>
          <p:nvPr/>
        </p:nvSpPr>
        <p:spPr>
          <a:xfrm xmlns:a="http://schemas.openxmlformats.org/drawingml/2006/main">
            <a:off x="876300" y="16668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0C140B2-7D66-41A1-9389-0CF164B51B8E}"/>
              </a:ext>
            </a:extLst>
          </p:cNvPr>
          <p:cNvSpPr>
            <a:spLocks xmlns:a="http://schemas.openxmlformats.org/drawingml/2006/main" noGrp="1"/>
          </p:cNvSpPr>
          <p:nvPr/>
        </p:nvSpPr>
        <p:spPr>
          <a:xfrm xmlns:a="http://schemas.openxmlformats.org/drawingml/2006/main">
            <a:off x="1619250" y="16478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Train and compare regression models for next-day Temp_Avg.</a:t>
            </a:r>
          </a:p>
        </p:txBody>
      </p:sp>
      <p:sp>
        <p:nvSpPr>
          <p:cNvPr id="6" name="">
            <a:extLst xmlns:a="http://schemas.openxmlformats.org/drawingml/2006/main">
              <a:ext uri="{FF2B5EF4-FFF2-40B4-BE49-F238E27FC236}">
                <a16:creationId xmlns:a16="http://schemas.microsoft.com/office/drawing/2014/main" id="{D644C0CD-6C0A-44EB-A950-BBA5579C96FB}"/>
              </a:ext>
            </a:extLst>
          </p:cNvPr>
          <p:cNvSpPr>
            <a:spLocks xmlns:a="http://schemas.openxmlformats.org/drawingml/2006/main" noGrp="1"/>
          </p:cNvSpPr>
          <p:nvPr/>
        </p:nvSpPr>
        <p:spPr>
          <a:xfrm xmlns:a="http://schemas.openxmlformats.org/drawingml/2006/main">
            <a:off x="876300" y="23526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1066C295-E66A-48BB-8714-0253B3BE1EEB}"/>
              </a:ext>
            </a:extLst>
          </p:cNvPr>
          <p:cNvSpPr>
            <a:spLocks xmlns:a="http://schemas.openxmlformats.org/drawingml/2006/main" noGrp="1"/>
          </p:cNvSpPr>
          <p:nvPr/>
        </p:nvSpPr>
        <p:spPr>
          <a:xfrm xmlns:a="http://schemas.openxmlformats.org/drawingml/2006/main">
            <a:off x="1619250" y="23336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Select and save the trained candidate with the lowest test RMSE.</a:t>
            </a:r>
          </a:p>
        </p:txBody>
      </p:sp>
      <p:sp>
        <p:nvSpPr>
          <p:cNvPr id="8" name="">
            <a:extLst xmlns:a="http://schemas.openxmlformats.org/drawingml/2006/main">
              <a:ext uri="{FF2B5EF4-FFF2-40B4-BE49-F238E27FC236}">
                <a16:creationId xmlns:a16="http://schemas.microsoft.com/office/drawing/2014/main" id="{183EB8D5-5163-491D-B063-A8520B5C8414}"/>
              </a:ext>
            </a:extLst>
          </p:cNvPr>
          <p:cNvSpPr>
            <a:spLocks xmlns:a="http://schemas.openxmlformats.org/drawingml/2006/main" noGrp="1"/>
          </p:cNvSpPr>
          <p:nvPr/>
        </p:nvSpPr>
        <p:spPr>
          <a:xfrm xmlns:a="http://schemas.openxmlformats.org/drawingml/2006/main">
            <a:off x="876300" y="30384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30E37282-52A3-449A-AD44-D18075B5CB9B}"/>
              </a:ext>
            </a:extLst>
          </p:cNvPr>
          <p:cNvSpPr>
            <a:spLocks xmlns:a="http://schemas.openxmlformats.org/drawingml/2006/main" noGrp="1"/>
          </p:cNvSpPr>
          <p:nvPr/>
        </p:nvSpPr>
        <p:spPr>
          <a:xfrm xmlns:a="http://schemas.openxmlformats.org/drawingml/2006/main">
            <a:off x="1619250" y="30194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Build leakage-aware lag, rolling, seasonal and state features.</a:t>
            </a:r>
          </a:p>
        </p:txBody>
      </p:sp>
      <p:sp>
        <p:nvSpPr>
          <p:cNvPr id="10" name="">
            <a:extLst xmlns:a="http://schemas.openxmlformats.org/drawingml/2006/main">
              <a:ext uri="{FF2B5EF4-FFF2-40B4-BE49-F238E27FC236}">
                <a16:creationId xmlns:a16="http://schemas.microsoft.com/office/drawing/2014/main" id="{B772812D-73CD-473C-AA26-F51E69C045A5}"/>
              </a:ext>
            </a:extLst>
          </p:cNvPr>
          <p:cNvSpPr>
            <a:spLocks xmlns:a="http://schemas.openxmlformats.org/drawingml/2006/main" noGrp="1"/>
          </p:cNvSpPr>
          <p:nvPr/>
        </p:nvSpPr>
        <p:spPr>
          <a:xfrm xmlns:a="http://schemas.openxmlformats.org/drawingml/2006/main">
            <a:off x="876300" y="37242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D130F1D6-6C92-4C00-B2C9-60BDFD48BF8D}"/>
              </a:ext>
            </a:extLst>
          </p:cNvPr>
          <p:cNvSpPr>
            <a:spLocks xmlns:a="http://schemas.openxmlformats.org/drawingml/2006/main" noGrp="1"/>
          </p:cNvSpPr>
          <p:nvPr/>
        </p:nvSpPr>
        <p:spPr>
          <a:xfrm xmlns:a="http://schemas.openxmlformats.org/drawingml/2006/main">
            <a:off x="1619250" y="37052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Serve validated predictions through FastAPI.</a:t>
            </a:r>
          </a:p>
        </p:txBody>
      </p:sp>
      <p:sp>
        <p:nvSpPr>
          <p:cNvPr id="12" name="">
            <a:extLst xmlns:a="http://schemas.openxmlformats.org/drawingml/2006/main">
              <a:ext uri="{FF2B5EF4-FFF2-40B4-BE49-F238E27FC236}">
                <a16:creationId xmlns:a16="http://schemas.microsoft.com/office/drawing/2014/main" id="{6FECCCEF-8F05-4381-8E3B-3014C15533D4}"/>
              </a:ext>
            </a:extLst>
          </p:cNvPr>
          <p:cNvSpPr>
            <a:spLocks xmlns:a="http://schemas.openxmlformats.org/drawingml/2006/main" noGrp="1"/>
          </p:cNvSpPr>
          <p:nvPr/>
        </p:nvSpPr>
        <p:spPr>
          <a:xfrm xmlns:a="http://schemas.openxmlformats.org/drawingml/2006/main">
            <a:off x="876300" y="44100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405BBC00-BF57-49F1-9C45-EB60A8D3E790}"/>
              </a:ext>
            </a:extLst>
          </p:cNvPr>
          <p:cNvSpPr>
            <a:spLocks xmlns:a="http://schemas.openxmlformats.org/drawingml/2006/main" noGrp="1"/>
          </p:cNvSpPr>
          <p:nvPr/>
        </p:nvSpPr>
        <p:spPr>
          <a:xfrm xmlns:a="http://schemas.openxmlformats.org/drawingml/2006/main">
            <a:off x="1619250" y="43910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Store weather data and prediction audit records in PostgreSQL.</a:t>
            </a:r>
          </a:p>
        </p:txBody>
      </p:sp>
      <p:sp>
        <p:nvSpPr>
          <p:cNvPr id="14" name="">
            <a:extLst xmlns:a="http://schemas.openxmlformats.org/drawingml/2006/main">
              <a:ext uri="{FF2B5EF4-FFF2-40B4-BE49-F238E27FC236}">
                <a16:creationId xmlns:a16="http://schemas.microsoft.com/office/drawing/2014/main" id="{9DDD1BF1-75BA-4C44-918D-1970746FD6AA}"/>
              </a:ext>
            </a:extLst>
          </p:cNvPr>
          <p:cNvSpPr>
            <a:spLocks xmlns:a="http://schemas.openxmlformats.org/drawingml/2006/main" noGrp="1"/>
          </p:cNvSpPr>
          <p:nvPr/>
        </p:nvSpPr>
        <p:spPr>
          <a:xfrm xmlns:a="http://schemas.openxmlformats.org/drawingml/2006/main">
            <a:off x="876300" y="5095875"/>
            <a:ext cx="514350" cy="419100"/>
          </a:xfrm>
          <a:prstGeom xmlns:a="http://schemas.openxmlformats.org/drawingml/2006/main" prst="roundRect">
            <a:avLst>
              <a:gd name="adj" fmla="val 50000"/>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06</a:t>
            </a:r>
          </a:p>
        </p:txBody>
      </p:sp>
      <p:sp>
        <p:nvSpPr>
          <p:cNvPr id="15" name="">
            <a:extLst xmlns:a="http://schemas.openxmlformats.org/drawingml/2006/main">
              <a:ext uri="{FF2B5EF4-FFF2-40B4-BE49-F238E27FC236}">
                <a16:creationId xmlns:a16="http://schemas.microsoft.com/office/drawing/2014/main" id="{837099B9-7C1B-4D2F-91E8-A13BB2FA920F}"/>
              </a:ext>
            </a:extLst>
          </p:cNvPr>
          <p:cNvSpPr>
            <a:spLocks xmlns:a="http://schemas.openxmlformats.org/drawingml/2006/main" noGrp="1"/>
          </p:cNvSpPr>
          <p:nvPr/>
        </p:nvSpPr>
        <p:spPr>
          <a:xfrm xmlns:a="http://schemas.openxmlformats.org/drawingml/2006/main">
            <a:off x="1619250" y="5076825"/>
            <a:ext cx="847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Provide React pages for forecasts, weather history, model performance and predictions.</a:t>
            </a:r>
          </a:p>
        </p:txBody>
      </p:sp>
      <p:sp>
        <p:nvSpPr>
          <p:cNvPr id="16" name="">
            <a:extLst xmlns:a="http://schemas.openxmlformats.org/drawingml/2006/main">
              <a:ext uri="{FF2B5EF4-FFF2-40B4-BE49-F238E27FC236}">
                <a16:creationId xmlns:a16="http://schemas.microsoft.com/office/drawing/2014/main" id="{3D2DC528-B2AC-45B7-9385-47F45B30A34F}"/>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7" name="">
            <a:extLst xmlns:a="http://schemas.openxmlformats.org/drawingml/2006/main">
              <a:ext uri="{FF2B5EF4-FFF2-40B4-BE49-F238E27FC236}">
                <a16:creationId xmlns:a16="http://schemas.microsoft.com/office/drawing/2014/main" id="{667431DA-D979-446B-96F8-B57635D8A0B3}"/>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8" name="">
            <a:extLst xmlns:a="http://schemas.openxmlformats.org/drawingml/2006/main">
              <a:ext uri="{FF2B5EF4-FFF2-40B4-BE49-F238E27FC236}">
                <a16:creationId xmlns:a16="http://schemas.microsoft.com/office/drawing/2014/main" id="{066CB9E6-6FF6-4A65-AD5C-B45E605B136D}"/>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04</a:t>
            </a:r>
          </a:p>
        </p:txBody>
      </p:sp>
    </p:spTree>
    <p:extLst>
      <p:ext uri="{BB962C8B-B14F-4D97-AF65-F5344CB8AC3E}">
        <p14:creationId xmlns:p14="http://schemas.microsoft.com/office/powerpoint/2010/main" val="1861619606"/>
      </p:ext>
    </p:extLst>
  </p:cSld>
</p:sld>
</file>

<file path=ppt/slides/slide5.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B86BAC-05BC-4631-A6E3-361AA642EF64}"/>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Existing System vs Proposed System</a:t>
            </a:r>
          </a:p>
        </p:txBody>
      </p:sp>
      <p:sp>
        <p:nvSpPr>
          <p:cNvPr id="2" name="">
            <a:extLst xmlns:a="http://schemas.openxmlformats.org/drawingml/2006/main">
              <a:ext uri="{FF2B5EF4-FFF2-40B4-BE49-F238E27FC236}">
                <a16:creationId xmlns:a16="http://schemas.microsoft.com/office/drawing/2014/main" id="{22E42AF4-3CA2-4ED4-8DCE-921BE6190C57}"/>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535048-71F7-463A-BE6E-DEB904ACE3D6}"/>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The repository does not document a separate legacy product; this compares a manual historical-data workflow with the implemented system</a:t>
            </a:r>
          </a:p>
        </p:txBody>
      </p:sp>
      <p:graphicFrame>
        <p:nvGraphicFramePr>
          <p:cNvPr id="12" name=""/>
          <p:cNvGraphicFramePr/>
          <p:nvPr/>
        </p:nvGraphicFramePr>
        <p:xfrm>
          <a:off xmlns:a="http://schemas.openxmlformats.org/drawingml/2006/main" x="647700" y="1666875"/>
          <a:ext xmlns:a="http://schemas.openxmlformats.org/drawingml/2006/main" cx="10896600" cy="3905250"/>
        </p:xfrm>
        <a:graphic xmlns:a="http://schemas.openxmlformats.org/drawingml/2006/main">
          <a:graphicData uri="http://schemas.openxmlformats.org/drawingml/2006/table">
            <a:tbl>
              <a:tblPr firstRow="1" bandRow="1"/>
              <a:tblGrid>
                <a:gridCol w="2333625"/>
                <a:gridCol w="3762375"/>
                <a:gridCol w="4800600"/>
              </a:tblGrid>
              <a:tr h="557893">
                <a:tc>
                  <a:txBody>
                    <a:bodyPr>
                      <a:normAutofit/>
                    </a:bodyPr>
                    <a:lstStyle/>
                    <a:p>
                      <a:r>
                        <a:rPr sz="1125" b="1">
                          <a:solidFill>
                            <a:srgbClr val="FFFFFF"/>
                          </a:solidFill>
                          <a:latin typeface="Arial"/>
                          <a:ea typeface="Arial"/>
                          <a:cs typeface="Arial"/>
                        </a:rPr>
                        <a:t>Aspect</a:t>
                      </a:r>
                    </a:p>
                  </a:txBody>
                  <a:tcPr marL="91440" marR="91440" marT="45720" marB="45720">
                    <a:solidFill>
                      <a:srgbClr val="0B2545"/>
                    </a:solidFill>
                  </a:tcPr>
                </a:tc>
                <a:tc>
                  <a:txBody>
                    <a:bodyPr>
                      <a:normAutofit/>
                    </a:bodyPr>
                    <a:lstStyle/>
                    <a:p>
                      <a:r>
                        <a:rPr sz="1125" b="1">
                          <a:solidFill>
                            <a:srgbClr val="FFFFFF"/>
                          </a:solidFill>
                          <a:latin typeface="Arial"/>
                          <a:ea typeface="Arial"/>
                          <a:cs typeface="Arial"/>
                        </a:rPr>
                        <a:t>Manual / disconnected workflow</a:t>
                      </a:r>
                    </a:p>
                  </a:txBody>
                  <a:tcPr marL="91440" marR="91440" marT="45720" marB="45720">
                    <a:solidFill>
                      <a:srgbClr val="0B2545"/>
                    </a:solidFill>
                  </a:tcPr>
                </a:tc>
                <a:tc>
                  <a:txBody>
                    <a:bodyPr>
                      <a:normAutofit/>
                    </a:bodyPr>
                    <a:lstStyle/>
                    <a:p>
                      <a:r>
                        <a:rPr sz="1125" b="1">
                          <a:solidFill>
                            <a:srgbClr val="FFFFFF"/>
                          </a:solidFill>
                          <a:latin typeface="Arial"/>
                          <a:ea typeface="Arial"/>
                          <a:cs typeface="Arial"/>
                        </a:rPr>
                        <a:t>Implemented proposed system</a:t>
                      </a:r>
                    </a:p>
                  </a:txBody>
                  <a:tcPr marL="91440" marR="91440" marT="45720" marB="45720">
                    <a:solidFill>
                      <a:srgbClr val="0B2545"/>
                    </a:solidFill>
                  </a:tcPr>
                </a:tc>
              </a:tr>
              <a:tr h="557893">
                <a:tc>
                  <a:txBody>
                    <a:bodyPr>
                      <a:normAutofit/>
                    </a:bodyPr>
                    <a:lstStyle/>
                    <a:p>
                      <a:r>
                        <a:rPr sz="1125">
                          <a:solidFill>
                            <a:srgbClr val="17324D"/>
                          </a:solidFill>
                          <a:latin typeface="Arial"/>
                          <a:ea typeface="Arial"/>
                          <a:cs typeface="Arial"/>
                        </a:rPr>
                        <a:t>Forecast creation</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Manual interpretation of historical data</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Saved ML pipeline predicts next-day Temp_Avg</a:t>
                      </a:r>
                    </a:p>
                  </a:txBody>
                  <a:tcPr marL="91440" marR="91440" marT="45720" marB="45720">
                    <a:solidFill>
                      <a:srgbClr val="FFFFFF"/>
                    </a:solidFill>
                  </a:tcPr>
                </a:tc>
              </a:tr>
              <a:tr h="557893">
                <a:tc>
                  <a:txBody>
                    <a:bodyPr>
                      <a:normAutofit/>
                    </a:bodyPr>
                    <a:lstStyle/>
                    <a:p>
                      <a:r>
                        <a:rPr sz="1125">
                          <a:solidFill>
                            <a:srgbClr val="17324D"/>
                          </a:solidFill>
                          <a:latin typeface="Arial"/>
                          <a:ea typeface="Arial"/>
                          <a:cs typeface="Arial"/>
                        </a:rPr>
                        <a:t>Feature preparation</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User would need to derive inputs</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Backend builds 13 training-compatible features</a:t>
                      </a:r>
                    </a:p>
                  </a:txBody>
                  <a:tcPr marL="91440" marR="91440" marT="45720" marB="45720">
                    <a:solidFill>
                      <a:srgbClr val="EAF6FC"/>
                    </a:solidFill>
                  </a:tcPr>
                </a:tc>
              </a:tr>
              <a:tr h="557893">
                <a:tc>
                  <a:txBody>
                    <a:bodyPr>
                      <a:normAutofit/>
                    </a:bodyPr>
                    <a:lstStyle/>
                    <a:p>
                      <a:r>
                        <a:rPr sz="1125">
                          <a:solidFill>
                            <a:srgbClr val="17324D"/>
                          </a:solidFill>
                          <a:latin typeface="Arial"/>
                          <a:ea typeface="Arial"/>
                          <a:cs typeface="Arial"/>
                        </a:rPr>
                        <a:t>Data access</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Separate source records</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FastAPI retrieves PostgreSQL weather history</a:t>
                      </a:r>
                    </a:p>
                  </a:txBody>
                  <a:tcPr marL="91440" marR="91440" marT="45720" marB="45720">
                    <a:solidFill>
                      <a:srgbClr val="FFFFFF"/>
                    </a:solidFill>
                  </a:tcPr>
                </a:tc>
              </a:tr>
              <a:tr h="557893">
                <a:tc>
                  <a:txBody>
                    <a:bodyPr>
                      <a:normAutofit/>
                    </a:bodyPr>
                    <a:lstStyle/>
                    <a:p>
                      <a:r>
                        <a:rPr sz="1125">
                          <a:solidFill>
                            <a:srgbClr val="17324D"/>
                          </a:solidFill>
                          <a:latin typeface="Arial"/>
                          <a:ea typeface="Arial"/>
                          <a:cs typeface="Arial"/>
                        </a:rPr>
                        <a:t>Validation</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No documented request validation</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State, date, history and staleness validation</a:t>
                      </a:r>
                    </a:p>
                  </a:txBody>
                  <a:tcPr marL="91440" marR="91440" marT="45720" marB="45720">
                    <a:solidFill>
                      <a:srgbClr val="EAF6FC"/>
                    </a:solidFill>
                  </a:tcPr>
                </a:tc>
              </a:tr>
              <a:tr h="557893">
                <a:tc>
                  <a:txBody>
                    <a:bodyPr>
                      <a:normAutofit/>
                    </a:bodyPr>
                    <a:lstStyle/>
                    <a:p>
                      <a:r>
                        <a:rPr sz="1125">
                          <a:solidFill>
                            <a:srgbClr val="17324D"/>
                          </a:solidFill>
                          <a:latin typeface="Arial"/>
                          <a:ea typeface="Arial"/>
                          <a:cs typeface="Arial"/>
                        </a:rPr>
                        <a:t>Traceability</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No documented audit record</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Predictions stored with forecast date and timestamp</a:t>
                      </a:r>
                    </a:p>
                  </a:txBody>
                  <a:tcPr marL="91440" marR="91440" marT="45720" marB="45720">
                    <a:solidFill>
                      <a:srgbClr val="FFFFFF"/>
                    </a:solidFill>
                  </a:tcPr>
                </a:tc>
              </a:tr>
              <a:tr h="557893">
                <a:tc>
                  <a:txBody>
                    <a:bodyPr>
                      <a:normAutofit/>
                    </a:bodyPr>
                    <a:lstStyle/>
                    <a:p>
                      <a:r>
                        <a:rPr sz="1125">
                          <a:solidFill>
                            <a:srgbClr val="17324D"/>
                          </a:solidFill>
                          <a:latin typeface="Arial"/>
                          <a:ea typeface="Arial"/>
                          <a:cs typeface="Arial"/>
                        </a:rPr>
                        <a:t>User interface</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No documented application view</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Four React tabs for request, history, model and audit</a:t>
                      </a:r>
                    </a:p>
                  </a:txBody>
                  <a:tcPr marL="91440" marR="91440" marT="45720" marB="45720">
                    <a:solidFill>
                      <a:srgbClr val="EAF6FC"/>
                    </a:solidFill>
                  </a:tcPr>
                </a:tc>
              </a:tr>
            </a:tbl>
          </a:graphicData>
        </a:graphic>
      </p:graphicFrame>
      <p:sp>
        <p:nvSpPr>
          <p:cNvPr id="5" name="">
            <a:extLst xmlns:a="http://schemas.openxmlformats.org/drawingml/2006/main">
              <a:ext uri="{FF2B5EF4-FFF2-40B4-BE49-F238E27FC236}">
                <a16:creationId xmlns:a16="http://schemas.microsoft.com/office/drawing/2014/main" id="{644A665C-4919-4A04-8890-2C0C8B319AF6}"/>
              </a:ext>
            </a:extLst>
          </p:cNvPr>
          <p:cNvSpPr>
            <a:spLocks xmlns:a="http://schemas.openxmlformats.org/drawingml/2006/main" noGrp="1"/>
          </p:cNvSpPr>
          <p:nvPr/>
        </p:nvSpPr>
        <p:spPr>
          <a:xfrm xmlns:a="http://schemas.openxmlformats.org/drawingml/2006/main">
            <a:off x="685800" y="58483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0">
                <a:solidFill>
                  <a:srgbClr val="567089"/>
                </a:solidFill>
                <a:latin typeface="Arial"/>
                <a:ea typeface="Arial"/>
                <a:cs typeface="Arial"/>
              </a:defRPr>
            </a:pPr>
            <a:r>
              <a:rPr sz="1050" b="0">
                <a:solidFill>
                  <a:srgbClr val="567089"/>
                </a:solidFill>
                <a:latin typeface="Arial"/>
                <a:ea typeface="Arial"/>
                <a:cs typeface="Arial"/>
              </a:rPr>
              <a:t>Comparison is limited to behaviours evidenced by the repository. It does not claim a named previous product.</a:t>
            </a:r>
          </a:p>
        </p:txBody>
      </p:sp>
      <p:sp>
        <p:nvSpPr>
          <p:cNvPr id="6" name="">
            <a:extLst xmlns:a="http://schemas.openxmlformats.org/drawingml/2006/main">
              <a:ext uri="{FF2B5EF4-FFF2-40B4-BE49-F238E27FC236}">
                <a16:creationId xmlns:a16="http://schemas.microsoft.com/office/drawing/2014/main" id="{46D4D8DD-4289-450F-A7E1-C8E9372935A8}"/>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7" name="">
            <a:extLst xmlns:a="http://schemas.openxmlformats.org/drawingml/2006/main">
              <a:ext uri="{FF2B5EF4-FFF2-40B4-BE49-F238E27FC236}">
                <a16:creationId xmlns:a16="http://schemas.microsoft.com/office/drawing/2014/main" id="{3E06FC9B-0498-439D-9DEE-8E30450EA9A7}"/>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8" name="">
            <a:extLst xmlns:a="http://schemas.openxmlformats.org/drawingml/2006/main">
              <a:ext uri="{FF2B5EF4-FFF2-40B4-BE49-F238E27FC236}">
                <a16:creationId xmlns:a16="http://schemas.microsoft.com/office/drawing/2014/main" id="{72FFDB7C-C63C-4807-86FB-44D6D4589210}"/>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05</a:t>
            </a:r>
          </a:p>
        </p:txBody>
      </p:sp>
    </p:spTree>
    <p:extLst>
      <p:ext uri="{BB962C8B-B14F-4D97-AF65-F5344CB8AC3E}">
        <p14:creationId xmlns:p14="http://schemas.microsoft.com/office/powerpoint/2010/main" val="1442481822"/>
      </p:ext>
    </p:extLst>
  </p:cSld>
</p:sld>
</file>

<file path=ppt/slides/slide6.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3C40978D-9B20-4FAA-A062-F9B366DCECC4}"/>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0D2F0D15-FF70-4618-A31D-4721B42575F3}"/>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A83E709-4754-42D7-89E7-BD44D5E89E72}"/>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Verified request and prediction path</a:t>
            </a:r>
          </a:p>
        </p:txBody>
      </p:sp>
      <p:sp>
        <p:nvSpPr>
          <p:cNvPr id="4" name="">
            <a:extLst xmlns:a="http://schemas.openxmlformats.org/drawingml/2006/main">
              <a:ext uri="{FF2B5EF4-FFF2-40B4-BE49-F238E27FC236}">
                <a16:creationId xmlns:a16="http://schemas.microsoft.com/office/drawing/2014/main" id="{293918F0-5FE5-465C-89FB-60C1C3F1DEF7}"/>
              </a:ext>
            </a:extLst>
          </p:cNvPr>
          <p:cNvSpPr>
            <a:spLocks xmlns:a="http://schemas.openxmlformats.org/drawingml/2006/main" noGrp="1"/>
          </p:cNvSpPr>
          <p:nvPr/>
        </p:nvSpPr>
        <p:spPr>
          <a:xfrm xmlns:a="http://schemas.openxmlformats.org/drawingml/2006/main">
            <a:off x="762000" y="2143125"/>
            <a:ext cx="1285875"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User</a:t>
            </a:r>
          </a:p>
        </p:txBody>
      </p:sp>
      <p:sp>
        <p:nvSpPr>
          <p:cNvPr id="5" name="">
            <a:extLst xmlns:a="http://schemas.openxmlformats.org/drawingml/2006/main">
              <a:ext uri="{FF2B5EF4-FFF2-40B4-BE49-F238E27FC236}">
                <a16:creationId xmlns:a16="http://schemas.microsoft.com/office/drawing/2014/main" id="{4BAD3998-41E7-4AF2-AB46-EA63EB0A54BA}"/>
              </a:ext>
            </a:extLst>
          </p:cNvPr>
          <p:cNvSpPr>
            <a:spLocks xmlns:a="http://schemas.openxmlformats.org/drawingml/2006/main" noGrp="1"/>
          </p:cNvSpPr>
          <p:nvPr/>
        </p:nvSpPr>
        <p:spPr>
          <a:xfrm xmlns:a="http://schemas.openxmlformats.org/drawingml/2006/main">
            <a:off x="2571750" y="2143125"/>
            <a:ext cx="1666875" cy="571500"/>
          </a:xfrm>
          <a:prstGeom xmlns:a="http://schemas.openxmlformats.org/drawingml/2006/main" prst="roundRect">
            <a:avLst>
              <a:gd name="adj" fmla="val 13333"/>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React + Vite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Frontend</a:t>
            </a:r>
          </a:p>
        </p:txBody>
      </p:sp>
      <p:sp>
        <p:nvSpPr>
          <p:cNvPr id="6" name="">
            <a:extLst xmlns:a="http://schemas.openxmlformats.org/drawingml/2006/main">
              <a:ext uri="{FF2B5EF4-FFF2-40B4-BE49-F238E27FC236}">
                <a16:creationId xmlns:a16="http://schemas.microsoft.com/office/drawing/2014/main" id="{B63F03E9-6D1E-4B4B-9707-16EE4B5F7CD2}"/>
              </a:ext>
            </a:extLst>
          </p:cNvPr>
          <p:cNvSpPr>
            <a:spLocks xmlns:a="http://schemas.openxmlformats.org/drawingml/2006/main" noGrp="1"/>
          </p:cNvSpPr>
          <p:nvPr/>
        </p:nvSpPr>
        <p:spPr>
          <a:xfrm xmlns:a="http://schemas.openxmlformats.org/drawingml/2006/main">
            <a:off x="4762500" y="2143125"/>
            <a:ext cx="1428750" cy="571500"/>
          </a:xfrm>
          <a:prstGeom xmlns:a="http://schemas.openxmlformats.org/drawingml/2006/main" prst="roundRect">
            <a:avLst>
              <a:gd name="adj" fmla="val 13333"/>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FastAPI</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Backend</a:t>
            </a:r>
          </a:p>
        </p:txBody>
      </p:sp>
      <p:sp>
        <p:nvSpPr>
          <p:cNvPr id="7" name="">
            <a:extLst xmlns:a="http://schemas.openxmlformats.org/drawingml/2006/main">
              <a:ext uri="{FF2B5EF4-FFF2-40B4-BE49-F238E27FC236}">
                <a16:creationId xmlns:a16="http://schemas.microsoft.com/office/drawing/2014/main" id="{8EAF40E9-F8EF-4215-9962-D5B235F67E61}"/>
              </a:ext>
            </a:extLst>
          </p:cNvPr>
          <p:cNvSpPr>
            <a:spLocks xmlns:a="http://schemas.openxmlformats.org/drawingml/2006/main" noGrp="1"/>
          </p:cNvSpPr>
          <p:nvPr/>
        </p:nvSpPr>
        <p:spPr>
          <a:xfrm xmlns:a="http://schemas.openxmlformats.org/drawingml/2006/main">
            <a:off x="6715125" y="2143125"/>
            <a:ext cx="1714500" cy="57150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PostgreSQL</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weather_data</a:t>
            </a:r>
          </a:p>
        </p:txBody>
      </p:sp>
      <p:sp>
        <p:nvSpPr>
          <p:cNvPr id="8" name="">
            <a:extLst xmlns:a="http://schemas.openxmlformats.org/drawingml/2006/main">
              <a:ext uri="{FF2B5EF4-FFF2-40B4-BE49-F238E27FC236}">
                <a16:creationId xmlns:a16="http://schemas.microsoft.com/office/drawing/2014/main" id="{5DF0DF8E-8F74-4FD8-AB7F-896E7B1716D8}"/>
              </a:ext>
            </a:extLst>
          </p:cNvPr>
          <p:cNvSpPr>
            <a:spLocks xmlns:a="http://schemas.openxmlformats.org/drawingml/2006/main" noGrp="1"/>
          </p:cNvSpPr>
          <p:nvPr/>
        </p:nvSpPr>
        <p:spPr>
          <a:xfrm xmlns:a="http://schemas.openxmlformats.org/drawingml/2006/main">
            <a:off x="8953500" y="2143125"/>
            <a:ext cx="1476375" cy="571500"/>
          </a:xfrm>
          <a:prstGeom xmlns:a="http://schemas.openxmlformats.org/drawingml/2006/main" prst="roundRect">
            <a:avLst>
              <a:gd name="adj" fmla="val 13333"/>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Feature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Service</a:t>
            </a:r>
          </a:p>
        </p:txBody>
      </p:sp>
      <p:sp>
        <p:nvSpPr>
          <p:cNvPr id="9" name="">
            <a:extLst xmlns:a="http://schemas.openxmlformats.org/drawingml/2006/main">
              <a:ext uri="{FF2B5EF4-FFF2-40B4-BE49-F238E27FC236}">
                <a16:creationId xmlns:a16="http://schemas.microsoft.com/office/drawing/2014/main" id="{1A1DCA98-0F19-4CDF-8849-D174D2AF3285}"/>
              </a:ext>
            </a:extLst>
          </p:cNvPr>
          <p:cNvSpPr>
            <a:spLocks xmlns:a="http://schemas.openxmlformats.org/drawingml/2006/main" noGrp="1"/>
          </p:cNvSpPr>
          <p:nvPr/>
        </p:nvSpPr>
        <p:spPr>
          <a:xfrm xmlns:a="http://schemas.openxmlformats.org/drawingml/2006/main">
            <a:off x="7667625" y="3619500"/>
            <a:ext cx="2571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Saved scikit-learn</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Gradient Boosting pipeline</a:t>
            </a:r>
          </a:p>
        </p:txBody>
      </p:sp>
      <p:sp>
        <p:nvSpPr>
          <p:cNvPr id="10" name="">
            <a:extLst xmlns:a="http://schemas.openxmlformats.org/drawingml/2006/main">
              <a:ext uri="{FF2B5EF4-FFF2-40B4-BE49-F238E27FC236}">
                <a16:creationId xmlns:a16="http://schemas.microsoft.com/office/drawing/2014/main" id="{51239E9B-27C1-4C82-A468-569E1FDF230B}"/>
              </a:ext>
            </a:extLst>
          </p:cNvPr>
          <p:cNvSpPr>
            <a:spLocks xmlns:a="http://schemas.openxmlformats.org/drawingml/2006/main" noGrp="1"/>
          </p:cNvSpPr>
          <p:nvPr/>
        </p:nvSpPr>
        <p:spPr>
          <a:xfrm xmlns:a="http://schemas.openxmlformats.org/drawingml/2006/main">
            <a:off x="4714875" y="3619500"/>
            <a:ext cx="17145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PostgreSQL</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predictions</a:t>
            </a:r>
          </a:p>
        </p:txBody>
      </p:sp>
      <p:sp>
        <p:nvSpPr>
          <p:cNvPr id="11" name="">
            <a:extLst xmlns:a="http://schemas.openxmlformats.org/drawingml/2006/main">
              <a:ext uri="{FF2B5EF4-FFF2-40B4-BE49-F238E27FC236}">
                <a16:creationId xmlns:a16="http://schemas.microsoft.com/office/drawing/2014/main" id="{CCCFB344-C74A-495D-A277-4EECF7F288E1}"/>
              </a:ext>
            </a:extLst>
          </p:cNvPr>
          <p:cNvSpPr>
            <a:spLocks xmlns:a="http://schemas.openxmlformats.org/drawingml/2006/main" noGrp="1"/>
          </p:cNvSpPr>
          <p:nvPr/>
        </p:nvSpPr>
        <p:spPr>
          <a:xfrm xmlns:a="http://schemas.openxmlformats.org/drawingml/2006/main">
            <a:off x="2095500" y="3619500"/>
            <a:ext cx="1714500" cy="628650"/>
          </a:xfrm>
          <a:prstGeom xmlns:a="http://schemas.openxmlformats.org/drawingml/2006/main" prst="roundRect">
            <a:avLst>
              <a:gd name="adj" fmla="val 12121"/>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JSON response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to frontend</a:t>
            </a:r>
          </a:p>
        </p:txBody>
      </p:sp>
      <p:sp>
        <p:nvSpPr>
          <p:cNvPr id="12" name="">
            <a:extLst xmlns:a="http://schemas.openxmlformats.org/drawingml/2006/main">
              <a:ext uri="{FF2B5EF4-FFF2-40B4-BE49-F238E27FC236}">
                <a16:creationId xmlns:a16="http://schemas.microsoft.com/office/drawing/2014/main" id="{323B6F65-8C1B-47DE-87A6-827D70E1A15E}"/>
              </a:ext>
            </a:extLst>
          </p:cNvPr>
          <p:cNvSpPr>
            <a:spLocks xmlns:a="http://schemas.openxmlformats.org/drawingml/2006/main" noGrp="1"/>
          </p:cNvSpPr>
          <p:nvPr/>
        </p:nvSpPr>
        <p:spPr>
          <a:xfrm xmlns:a="http://schemas.openxmlformats.org/drawingml/2006/main">
            <a:off x="2047875" y="2428875"/>
            <a:ext cx="523875" cy="0"/>
          </a:xfrm>
          <a:prstGeom xmlns:a="http://schemas.openxmlformats.org/drawingml/2006/main" prst="line">
            <a:avLst/>
          </a:prstGeom>
          <a:ln xmlns:a="http://schemas.openxmlformats.org/drawingml/2006/main" w="19050">
            <a:solidFill>
              <a:srgbClr val="0077B6"/>
            </a:solidFill>
          </a:ln>
        </p:spPr>
      </p:sp>
      <p:sp>
        <p:nvSpPr>
          <p:cNvPr id="13" name="">
            <a:extLst xmlns:a="http://schemas.openxmlformats.org/drawingml/2006/main">
              <a:ext uri="{FF2B5EF4-FFF2-40B4-BE49-F238E27FC236}">
                <a16:creationId xmlns:a16="http://schemas.microsoft.com/office/drawing/2014/main" id="{A8E55E6A-A171-4515-A520-AC5AD1374E92}"/>
              </a:ext>
            </a:extLst>
          </p:cNvPr>
          <p:cNvSpPr>
            <a:spLocks xmlns:a="http://schemas.openxmlformats.org/drawingml/2006/main" noGrp="1"/>
          </p:cNvSpPr>
          <p:nvPr/>
        </p:nvSpPr>
        <p:spPr>
          <a:xfrm xmlns:a="http://schemas.openxmlformats.org/drawingml/2006/main">
            <a:off x="2447925" y="236220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4" name="">
            <a:extLst xmlns:a="http://schemas.openxmlformats.org/drawingml/2006/main">
              <a:ext uri="{FF2B5EF4-FFF2-40B4-BE49-F238E27FC236}">
                <a16:creationId xmlns:a16="http://schemas.microsoft.com/office/drawing/2014/main" id="{A84278DA-115C-4F06-897A-F8F3A81705A6}"/>
              </a:ext>
            </a:extLst>
          </p:cNvPr>
          <p:cNvSpPr>
            <a:spLocks xmlns:a="http://schemas.openxmlformats.org/drawingml/2006/main" noGrp="1"/>
          </p:cNvSpPr>
          <p:nvPr/>
        </p:nvSpPr>
        <p:spPr>
          <a:xfrm xmlns:a="http://schemas.openxmlformats.org/drawingml/2006/main">
            <a:off x="4238625" y="2428875"/>
            <a:ext cx="523875" cy="0"/>
          </a:xfrm>
          <a:prstGeom xmlns:a="http://schemas.openxmlformats.org/drawingml/2006/main" prst="line">
            <a:avLst/>
          </a:prstGeom>
          <a:ln xmlns:a="http://schemas.openxmlformats.org/drawingml/2006/main" w="19050">
            <a:solidFill>
              <a:srgbClr val="0077B6"/>
            </a:solidFill>
          </a:ln>
        </p:spPr>
      </p:sp>
      <p:sp>
        <p:nvSpPr>
          <p:cNvPr id="15" name="">
            <a:extLst xmlns:a="http://schemas.openxmlformats.org/drawingml/2006/main">
              <a:ext uri="{FF2B5EF4-FFF2-40B4-BE49-F238E27FC236}">
                <a16:creationId xmlns:a16="http://schemas.microsoft.com/office/drawing/2014/main" id="{D5237915-4F50-420F-A378-88965FCA38AC}"/>
              </a:ext>
            </a:extLst>
          </p:cNvPr>
          <p:cNvSpPr>
            <a:spLocks xmlns:a="http://schemas.openxmlformats.org/drawingml/2006/main" noGrp="1"/>
          </p:cNvSpPr>
          <p:nvPr/>
        </p:nvSpPr>
        <p:spPr>
          <a:xfrm xmlns:a="http://schemas.openxmlformats.org/drawingml/2006/main">
            <a:off x="4638675" y="236220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6" name="">
            <a:extLst xmlns:a="http://schemas.openxmlformats.org/drawingml/2006/main">
              <a:ext uri="{FF2B5EF4-FFF2-40B4-BE49-F238E27FC236}">
                <a16:creationId xmlns:a16="http://schemas.microsoft.com/office/drawing/2014/main" id="{959932D7-96EB-4BD9-9264-DE92119706FD}"/>
              </a:ext>
            </a:extLst>
          </p:cNvPr>
          <p:cNvSpPr>
            <a:spLocks xmlns:a="http://schemas.openxmlformats.org/drawingml/2006/main" noGrp="1"/>
          </p:cNvSpPr>
          <p:nvPr/>
        </p:nvSpPr>
        <p:spPr>
          <a:xfrm xmlns:a="http://schemas.openxmlformats.org/drawingml/2006/main">
            <a:off x="6191250" y="2428875"/>
            <a:ext cx="523875" cy="0"/>
          </a:xfrm>
          <a:prstGeom xmlns:a="http://schemas.openxmlformats.org/drawingml/2006/main" prst="line">
            <a:avLst/>
          </a:prstGeom>
          <a:ln xmlns:a="http://schemas.openxmlformats.org/drawingml/2006/main" w="19050">
            <a:solidFill>
              <a:srgbClr val="0077B6"/>
            </a:solidFill>
          </a:ln>
        </p:spPr>
      </p:sp>
      <p:sp>
        <p:nvSpPr>
          <p:cNvPr id="17" name="">
            <a:extLst xmlns:a="http://schemas.openxmlformats.org/drawingml/2006/main">
              <a:ext uri="{FF2B5EF4-FFF2-40B4-BE49-F238E27FC236}">
                <a16:creationId xmlns:a16="http://schemas.microsoft.com/office/drawing/2014/main" id="{5F9F767A-E130-4E8A-B2DA-34EA8A5572CF}"/>
              </a:ext>
            </a:extLst>
          </p:cNvPr>
          <p:cNvSpPr>
            <a:spLocks xmlns:a="http://schemas.openxmlformats.org/drawingml/2006/main" noGrp="1"/>
          </p:cNvSpPr>
          <p:nvPr/>
        </p:nvSpPr>
        <p:spPr>
          <a:xfrm xmlns:a="http://schemas.openxmlformats.org/drawingml/2006/main">
            <a:off x="6591300" y="236220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8" name="">
            <a:extLst xmlns:a="http://schemas.openxmlformats.org/drawingml/2006/main">
              <a:ext uri="{FF2B5EF4-FFF2-40B4-BE49-F238E27FC236}">
                <a16:creationId xmlns:a16="http://schemas.microsoft.com/office/drawing/2014/main" id="{1CE847F0-93E6-48B9-87B1-BAD0A9B89EFA}"/>
              </a:ext>
            </a:extLst>
          </p:cNvPr>
          <p:cNvSpPr>
            <a:spLocks xmlns:a="http://schemas.openxmlformats.org/drawingml/2006/main" noGrp="1"/>
          </p:cNvSpPr>
          <p:nvPr/>
        </p:nvSpPr>
        <p:spPr>
          <a:xfrm xmlns:a="http://schemas.openxmlformats.org/drawingml/2006/main">
            <a:off x="8429625" y="2428875"/>
            <a:ext cx="523875" cy="0"/>
          </a:xfrm>
          <a:prstGeom xmlns:a="http://schemas.openxmlformats.org/drawingml/2006/main" prst="line">
            <a:avLst/>
          </a:prstGeom>
          <a:ln xmlns:a="http://schemas.openxmlformats.org/drawingml/2006/main" w="19050">
            <a:solidFill>
              <a:srgbClr val="0077B6"/>
            </a:solidFill>
          </a:ln>
        </p:spPr>
      </p:sp>
      <p:sp>
        <p:nvSpPr>
          <p:cNvPr id="19" name="">
            <a:extLst xmlns:a="http://schemas.openxmlformats.org/drawingml/2006/main">
              <a:ext uri="{FF2B5EF4-FFF2-40B4-BE49-F238E27FC236}">
                <a16:creationId xmlns:a16="http://schemas.microsoft.com/office/drawing/2014/main" id="{6B3F8B45-BB6E-4CD4-882F-7C9A9C2F54D1}"/>
              </a:ext>
            </a:extLst>
          </p:cNvPr>
          <p:cNvSpPr>
            <a:spLocks xmlns:a="http://schemas.openxmlformats.org/drawingml/2006/main" noGrp="1"/>
          </p:cNvSpPr>
          <p:nvPr/>
        </p:nvSpPr>
        <p:spPr>
          <a:xfrm xmlns:a="http://schemas.openxmlformats.org/drawingml/2006/main">
            <a:off x="8829675" y="236220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20" name="">
            <a:extLst xmlns:a="http://schemas.openxmlformats.org/drawingml/2006/main">
              <a:ext uri="{FF2B5EF4-FFF2-40B4-BE49-F238E27FC236}">
                <a16:creationId xmlns:a16="http://schemas.microsoft.com/office/drawing/2014/main" id="{D1E8B824-3DE4-4EFD-AF6B-A22153F34F83}"/>
              </a:ext>
            </a:extLst>
          </p:cNvPr>
          <p:cNvSpPr>
            <a:spLocks xmlns:a="http://schemas.openxmlformats.org/drawingml/2006/main" noGrp="1"/>
          </p:cNvSpPr>
          <p:nvPr/>
        </p:nvSpPr>
        <p:spPr>
          <a:xfrm xmlns:a="http://schemas.openxmlformats.org/drawingml/2006/main">
            <a:off x="9020175" y="2714625"/>
            <a:ext cx="676275" cy="904875"/>
          </a:xfrm>
          <a:prstGeom xmlns:a="http://schemas.openxmlformats.org/drawingml/2006/main" prst="line">
            <a:avLst/>
          </a:prstGeom>
          <a:ln xmlns:a="http://schemas.openxmlformats.org/drawingml/2006/main" w="19050">
            <a:solidFill>
              <a:srgbClr val="0077B6"/>
            </a:solidFill>
          </a:ln>
        </p:spPr>
      </p:sp>
      <p:sp>
        <p:nvSpPr>
          <p:cNvPr id="21" name="">
            <a:extLst xmlns:a="http://schemas.openxmlformats.org/drawingml/2006/main">
              <a:ext uri="{FF2B5EF4-FFF2-40B4-BE49-F238E27FC236}">
                <a16:creationId xmlns:a16="http://schemas.microsoft.com/office/drawing/2014/main" id="{6F957D52-4AF7-4913-B030-E58445EA9C5A}"/>
              </a:ext>
            </a:extLst>
          </p:cNvPr>
          <p:cNvSpPr>
            <a:spLocks xmlns:a="http://schemas.openxmlformats.org/drawingml/2006/main" noGrp="1"/>
          </p:cNvSpPr>
          <p:nvPr/>
        </p:nvSpPr>
        <p:spPr>
          <a:xfrm xmlns:a="http://schemas.openxmlformats.org/drawingml/2006/main">
            <a:off x="8953500" y="3495675"/>
            <a:ext cx="133350" cy="142875"/>
          </a:xfrm>
          <a:prstGeom xmlns:a="http://schemas.openxmlformats.org/drawingml/2006/main" prst="downArrow">
            <a:avLst/>
          </a:prstGeom>
          <a:solidFill xmlns:a="http://schemas.openxmlformats.org/drawingml/2006/main">
            <a:srgbClr val="0077B6"/>
          </a:solidFill>
          <a:ln xmlns:a="http://schemas.openxmlformats.org/drawingml/2006/main" w="9525">
            <a:solidFill>
              <a:srgbClr val="0077B6"/>
            </a:solidFill>
          </a:ln>
        </p:spPr>
      </p:sp>
      <p:sp>
        <p:nvSpPr>
          <p:cNvPr id="22" name="">
            <a:extLst xmlns:a="http://schemas.openxmlformats.org/drawingml/2006/main">
              <a:ext uri="{FF2B5EF4-FFF2-40B4-BE49-F238E27FC236}">
                <a16:creationId xmlns:a16="http://schemas.microsoft.com/office/drawing/2014/main" id="{4AA92F4B-572A-47DF-B479-600FE0001C69}"/>
              </a:ext>
            </a:extLst>
          </p:cNvPr>
          <p:cNvSpPr>
            <a:spLocks xmlns:a="http://schemas.openxmlformats.org/drawingml/2006/main" noGrp="1"/>
          </p:cNvSpPr>
          <p:nvPr/>
        </p:nvSpPr>
        <p:spPr>
          <a:xfrm xmlns:a="http://schemas.openxmlformats.org/drawingml/2006/main">
            <a:off x="6429375" y="3933825"/>
            <a:ext cx="1238250" cy="0"/>
          </a:xfrm>
          <a:prstGeom xmlns:a="http://schemas.openxmlformats.org/drawingml/2006/main" prst="line">
            <a:avLst/>
          </a:prstGeom>
          <a:ln xmlns:a="http://schemas.openxmlformats.org/drawingml/2006/main" w="19050">
            <a:solidFill>
              <a:srgbClr val="0077B6"/>
            </a:solidFill>
          </a:ln>
        </p:spPr>
      </p:sp>
      <p:sp>
        <p:nvSpPr>
          <p:cNvPr id="23" name="">
            <a:extLst xmlns:a="http://schemas.openxmlformats.org/drawingml/2006/main">
              <a:ext uri="{FF2B5EF4-FFF2-40B4-BE49-F238E27FC236}">
                <a16:creationId xmlns:a16="http://schemas.microsoft.com/office/drawing/2014/main" id="{8640394E-DED0-4C4C-AB03-24B0784AACE3}"/>
              </a:ext>
            </a:extLst>
          </p:cNvPr>
          <p:cNvSpPr>
            <a:spLocks xmlns:a="http://schemas.openxmlformats.org/drawingml/2006/main" noGrp="1"/>
          </p:cNvSpPr>
          <p:nvPr/>
        </p:nvSpPr>
        <p:spPr>
          <a:xfrm xmlns:a="http://schemas.openxmlformats.org/drawingml/2006/main">
            <a:off x="6419850" y="3867150"/>
            <a:ext cx="142875" cy="133350"/>
          </a:xfrm>
          <a:prstGeom xmlns:a="http://schemas.openxmlformats.org/drawingml/2006/main" prst="leftArrow">
            <a:avLst/>
          </a:prstGeom>
          <a:solidFill xmlns:a="http://schemas.openxmlformats.org/drawingml/2006/main">
            <a:srgbClr val="0077B6"/>
          </a:solidFill>
          <a:ln xmlns:a="http://schemas.openxmlformats.org/drawingml/2006/main" w="9525">
            <a:solidFill>
              <a:srgbClr val="0077B6"/>
            </a:solidFill>
          </a:ln>
        </p:spPr>
      </p:sp>
      <p:sp>
        <p:nvSpPr>
          <p:cNvPr id="24" name="">
            <a:extLst xmlns:a="http://schemas.openxmlformats.org/drawingml/2006/main">
              <a:ext uri="{FF2B5EF4-FFF2-40B4-BE49-F238E27FC236}">
                <a16:creationId xmlns:a16="http://schemas.microsoft.com/office/drawing/2014/main" id="{C4433002-723B-4762-B2A3-E40B8F359333}"/>
              </a:ext>
            </a:extLst>
          </p:cNvPr>
          <p:cNvSpPr>
            <a:spLocks xmlns:a="http://schemas.openxmlformats.org/drawingml/2006/main" noGrp="1"/>
          </p:cNvSpPr>
          <p:nvPr/>
        </p:nvSpPr>
        <p:spPr>
          <a:xfrm xmlns:a="http://schemas.openxmlformats.org/drawingml/2006/main">
            <a:off x="3810000" y="3933825"/>
            <a:ext cx="904875" cy="0"/>
          </a:xfrm>
          <a:prstGeom xmlns:a="http://schemas.openxmlformats.org/drawingml/2006/main" prst="line">
            <a:avLst/>
          </a:prstGeom>
          <a:ln xmlns:a="http://schemas.openxmlformats.org/drawingml/2006/main" w="19050">
            <a:solidFill>
              <a:srgbClr val="0077B6"/>
            </a:solidFill>
          </a:ln>
        </p:spPr>
      </p:sp>
      <p:sp>
        <p:nvSpPr>
          <p:cNvPr id="25" name="">
            <a:extLst xmlns:a="http://schemas.openxmlformats.org/drawingml/2006/main">
              <a:ext uri="{FF2B5EF4-FFF2-40B4-BE49-F238E27FC236}">
                <a16:creationId xmlns:a16="http://schemas.microsoft.com/office/drawing/2014/main" id="{C18016AC-58D1-4F73-9153-2B9B061E9D6D}"/>
              </a:ext>
            </a:extLst>
          </p:cNvPr>
          <p:cNvSpPr>
            <a:spLocks xmlns:a="http://schemas.openxmlformats.org/drawingml/2006/main" noGrp="1"/>
          </p:cNvSpPr>
          <p:nvPr/>
        </p:nvSpPr>
        <p:spPr>
          <a:xfrm xmlns:a="http://schemas.openxmlformats.org/drawingml/2006/main">
            <a:off x="3800475" y="3867150"/>
            <a:ext cx="142875" cy="133350"/>
          </a:xfrm>
          <a:prstGeom xmlns:a="http://schemas.openxmlformats.org/drawingml/2006/main" prst="leftArrow">
            <a:avLst/>
          </a:prstGeom>
          <a:solidFill xmlns:a="http://schemas.openxmlformats.org/drawingml/2006/main">
            <a:srgbClr val="0077B6"/>
          </a:solidFill>
          <a:ln xmlns:a="http://schemas.openxmlformats.org/drawingml/2006/main" w="9525">
            <a:solidFill>
              <a:srgbClr val="0077B6"/>
            </a:solidFill>
          </a:ln>
        </p:spPr>
      </p:sp>
      <p:sp>
        <p:nvSpPr>
          <p:cNvPr id="26" name="">
            <a:extLst xmlns:a="http://schemas.openxmlformats.org/drawingml/2006/main">
              <a:ext uri="{FF2B5EF4-FFF2-40B4-BE49-F238E27FC236}">
                <a16:creationId xmlns:a16="http://schemas.microsoft.com/office/drawing/2014/main" id="{FD2E843E-5460-4402-A878-26EDD492D362}"/>
              </a:ext>
            </a:extLst>
          </p:cNvPr>
          <p:cNvSpPr>
            <a:spLocks xmlns:a="http://schemas.openxmlformats.org/drawingml/2006/main" noGrp="1"/>
          </p:cNvSpPr>
          <p:nvPr/>
        </p:nvSpPr>
        <p:spPr>
          <a:xfrm xmlns:a="http://schemas.openxmlformats.org/drawingml/2006/main">
            <a:off x="1428750" y="2714625"/>
            <a:ext cx="666750" cy="1219200"/>
          </a:xfrm>
          <a:prstGeom xmlns:a="http://schemas.openxmlformats.org/drawingml/2006/main" prst="line">
            <a:avLst/>
          </a:prstGeom>
          <a:ln xmlns:a="http://schemas.openxmlformats.org/drawingml/2006/main" w="19050">
            <a:solidFill>
              <a:srgbClr val="0077B6"/>
            </a:solidFill>
          </a:ln>
        </p:spPr>
      </p:sp>
      <p:sp>
        <p:nvSpPr>
          <p:cNvPr id="27" name="">
            <a:extLst xmlns:a="http://schemas.openxmlformats.org/drawingml/2006/main">
              <a:ext uri="{FF2B5EF4-FFF2-40B4-BE49-F238E27FC236}">
                <a16:creationId xmlns:a16="http://schemas.microsoft.com/office/drawing/2014/main" id="{36A9E912-189C-425A-B9BE-E471819A587F}"/>
              </a:ext>
            </a:extLst>
          </p:cNvPr>
          <p:cNvSpPr>
            <a:spLocks xmlns:a="http://schemas.openxmlformats.org/drawingml/2006/main" noGrp="1"/>
          </p:cNvSpPr>
          <p:nvPr/>
        </p:nvSpPr>
        <p:spPr>
          <a:xfrm xmlns:a="http://schemas.openxmlformats.org/drawingml/2006/main">
            <a:off x="1362075" y="2705100"/>
            <a:ext cx="133350" cy="142875"/>
          </a:xfrm>
          <a:prstGeom xmlns:a="http://schemas.openxmlformats.org/drawingml/2006/main" prst="upArrow">
            <a:avLst/>
          </a:prstGeom>
          <a:solidFill xmlns:a="http://schemas.openxmlformats.org/drawingml/2006/main">
            <a:srgbClr val="0077B6"/>
          </a:solidFill>
          <a:ln xmlns:a="http://schemas.openxmlformats.org/drawingml/2006/main" w="9525">
            <a:solidFill>
              <a:srgbClr val="0077B6"/>
            </a:solidFill>
          </a:ln>
        </p:spPr>
      </p:sp>
      <p:sp>
        <p:nvSpPr>
          <p:cNvPr id="28" name="">
            <a:extLst xmlns:a="http://schemas.openxmlformats.org/drawingml/2006/main">
              <a:ext uri="{FF2B5EF4-FFF2-40B4-BE49-F238E27FC236}">
                <a16:creationId xmlns:a16="http://schemas.microsoft.com/office/drawing/2014/main" id="{E9F67424-C8FF-42D5-B662-E6A86963EA53}"/>
              </a:ext>
            </a:extLst>
          </p:cNvPr>
          <p:cNvSpPr>
            <a:spLocks xmlns:a="http://schemas.openxmlformats.org/drawingml/2006/main" noGrp="1"/>
          </p:cNvSpPr>
          <p:nvPr/>
        </p:nvSpPr>
        <p:spPr>
          <a:xfrm xmlns:a="http://schemas.openxmlformats.org/drawingml/2006/main">
            <a:off x="1466850" y="4953000"/>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567089"/>
                </a:solidFill>
                <a:latin typeface="Arial"/>
                <a:ea typeface="Arial"/>
                <a:cs typeface="Arial"/>
              </a:defRPr>
            </a:pPr>
            <a:r>
              <a:rPr sz="1275" b="0">
                <a:solidFill>
                  <a:srgbClr val="567089"/>
                </a:solidFill>
                <a:latin typeface="Arial"/>
                <a:ea typeface="Arial"/>
                <a:cs typeface="Arial"/>
              </a:rPr>
              <a:t>POST /predict reads seven records before D−1, creates the exact feature row, predicts and writes an audit record.</a:t>
            </a:r>
          </a:p>
        </p:txBody>
      </p:sp>
      <p:sp>
        <p:nvSpPr>
          <p:cNvPr id="29" name="">
            <a:extLst xmlns:a="http://schemas.openxmlformats.org/drawingml/2006/main">
              <a:ext uri="{FF2B5EF4-FFF2-40B4-BE49-F238E27FC236}">
                <a16:creationId xmlns:a16="http://schemas.microsoft.com/office/drawing/2014/main" id="{DDB43625-2A7F-4EB5-A58F-D2FADC5F19B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30" name="">
            <a:extLst xmlns:a="http://schemas.openxmlformats.org/drawingml/2006/main">
              <a:ext uri="{FF2B5EF4-FFF2-40B4-BE49-F238E27FC236}">
                <a16:creationId xmlns:a16="http://schemas.microsoft.com/office/drawing/2014/main" id="{E3DD6DEC-FEC4-4D0F-8DA6-F8276A117C53}"/>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31" name="">
            <a:extLst xmlns:a="http://schemas.openxmlformats.org/drawingml/2006/main">
              <a:ext uri="{FF2B5EF4-FFF2-40B4-BE49-F238E27FC236}">
                <a16:creationId xmlns:a16="http://schemas.microsoft.com/office/drawing/2014/main" id="{E1602D0F-6338-41C1-9B50-F5A27829F2F9}"/>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06</a:t>
            </a:r>
          </a:p>
        </p:txBody>
      </p:sp>
    </p:spTree>
    <p:extLst>
      <p:ext uri="{BB962C8B-B14F-4D97-AF65-F5344CB8AC3E}">
        <p14:creationId xmlns:p14="http://schemas.microsoft.com/office/powerpoint/2010/main" val="1548716493"/>
      </p:ext>
    </p:extLst>
  </p:cSld>
</p:sld>
</file>

<file path=ppt/slides/slide7.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556B7ED-7277-4E78-B6FE-BCD9661A04DE}"/>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Technologies Used</a:t>
            </a:r>
          </a:p>
        </p:txBody>
      </p:sp>
      <p:sp>
        <p:nvSpPr>
          <p:cNvPr id="2" name="">
            <a:extLst xmlns:a="http://schemas.openxmlformats.org/drawingml/2006/main">
              <a:ext uri="{FF2B5EF4-FFF2-40B4-BE49-F238E27FC236}">
                <a16:creationId xmlns:a16="http://schemas.microsoft.com/office/drawing/2014/main" id="{BF662A20-B25F-4752-B948-AD30737AD308}"/>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2BCF0F0-BB64-4F4B-B1AF-4E79D839057E}"/>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Only technologies found in repository source or configuration</a:t>
            </a:r>
          </a:p>
        </p:txBody>
      </p:sp>
      <p:sp>
        <p:nvSpPr>
          <p:cNvPr id="4" name="">
            <a:extLst xmlns:a="http://schemas.openxmlformats.org/drawingml/2006/main">
              <a:ext uri="{FF2B5EF4-FFF2-40B4-BE49-F238E27FC236}">
                <a16:creationId xmlns:a16="http://schemas.microsoft.com/office/drawing/2014/main" id="{67F4AC81-FAB9-4FFE-A389-4D84CE5F928C}"/>
              </a:ext>
            </a:extLst>
          </p:cNvPr>
          <p:cNvSpPr>
            <a:spLocks xmlns:a="http://schemas.openxmlformats.org/drawingml/2006/main" noGrp="1"/>
          </p:cNvSpPr>
          <p:nvPr/>
        </p:nvSpPr>
        <p:spPr>
          <a:xfrm xmlns:a="http://schemas.openxmlformats.org/drawingml/2006/main">
            <a:off x="809625" y="156210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Frontend</a:t>
            </a:r>
          </a:p>
        </p:txBody>
      </p:sp>
      <p:sp>
        <p:nvSpPr>
          <p:cNvPr id="5" name="">
            <a:extLst xmlns:a="http://schemas.openxmlformats.org/drawingml/2006/main">
              <a:ext uri="{FF2B5EF4-FFF2-40B4-BE49-F238E27FC236}">
                <a16:creationId xmlns:a16="http://schemas.microsoft.com/office/drawing/2014/main" id="{7E95AEFF-0205-4DA6-99BC-53DA539A367B}"/>
              </a:ext>
            </a:extLst>
          </p:cNvPr>
          <p:cNvSpPr>
            <a:spLocks xmlns:a="http://schemas.openxmlformats.org/drawingml/2006/main" noGrp="1"/>
          </p:cNvSpPr>
          <p:nvPr/>
        </p:nvSpPr>
        <p:spPr>
          <a:xfrm xmlns:a="http://schemas.openxmlformats.org/drawingml/2006/main">
            <a:off x="3476625" y="1562100"/>
            <a:ext cx="7048500" cy="4572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React 18, TypeScript, Vite, Recharts</a:t>
            </a:r>
          </a:p>
        </p:txBody>
      </p:sp>
      <p:sp>
        <p:nvSpPr>
          <p:cNvPr id="6" name="">
            <a:extLst xmlns:a="http://schemas.openxmlformats.org/drawingml/2006/main">
              <a:ext uri="{FF2B5EF4-FFF2-40B4-BE49-F238E27FC236}">
                <a16:creationId xmlns:a16="http://schemas.microsoft.com/office/drawing/2014/main" id="{06379C81-9FF9-4768-A791-92BD104E96EB}"/>
              </a:ext>
            </a:extLst>
          </p:cNvPr>
          <p:cNvSpPr>
            <a:spLocks xmlns:a="http://schemas.openxmlformats.org/drawingml/2006/main" noGrp="1"/>
          </p:cNvSpPr>
          <p:nvPr/>
        </p:nvSpPr>
        <p:spPr>
          <a:xfrm xmlns:a="http://schemas.openxmlformats.org/drawingml/2006/main">
            <a:off x="809625" y="226695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Backend</a:t>
            </a:r>
          </a:p>
        </p:txBody>
      </p:sp>
      <p:sp>
        <p:nvSpPr>
          <p:cNvPr id="7" name="">
            <a:extLst xmlns:a="http://schemas.openxmlformats.org/drawingml/2006/main">
              <a:ext uri="{FF2B5EF4-FFF2-40B4-BE49-F238E27FC236}">
                <a16:creationId xmlns:a16="http://schemas.microsoft.com/office/drawing/2014/main" id="{7BC33230-579E-4254-BE4A-0A6229A30EA2}"/>
              </a:ext>
            </a:extLst>
          </p:cNvPr>
          <p:cNvSpPr>
            <a:spLocks xmlns:a="http://schemas.openxmlformats.org/drawingml/2006/main" noGrp="1"/>
          </p:cNvSpPr>
          <p:nvPr/>
        </p:nvSpPr>
        <p:spPr>
          <a:xfrm xmlns:a="http://schemas.openxmlformats.org/drawingml/2006/main">
            <a:off x="3476625" y="2266950"/>
            <a:ext cx="7048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Python, FastAPI, Uvicorn, SQLAlchemy, psycopg, Pydantic</a:t>
            </a:r>
          </a:p>
        </p:txBody>
      </p:sp>
      <p:sp>
        <p:nvSpPr>
          <p:cNvPr id="8" name="">
            <a:extLst xmlns:a="http://schemas.openxmlformats.org/drawingml/2006/main">
              <a:ext uri="{FF2B5EF4-FFF2-40B4-BE49-F238E27FC236}">
                <a16:creationId xmlns:a16="http://schemas.microsoft.com/office/drawing/2014/main" id="{0A59D0BB-47C1-43DE-BE4E-84E1E725F25E}"/>
              </a:ext>
            </a:extLst>
          </p:cNvPr>
          <p:cNvSpPr>
            <a:spLocks xmlns:a="http://schemas.openxmlformats.org/drawingml/2006/main" noGrp="1"/>
          </p:cNvSpPr>
          <p:nvPr/>
        </p:nvSpPr>
        <p:spPr>
          <a:xfrm xmlns:a="http://schemas.openxmlformats.org/drawingml/2006/main">
            <a:off x="809625" y="297180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Database</a:t>
            </a:r>
          </a:p>
        </p:txBody>
      </p:sp>
      <p:sp>
        <p:nvSpPr>
          <p:cNvPr id="9" name="">
            <a:extLst xmlns:a="http://schemas.openxmlformats.org/drawingml/2006/main">
              <a:ext uri="{FF2B5EF4-FFF2-40B4-BE49-F238E27FC236}">
                <a16:creationId xmlns:a16="http://schemas.microsoft.com/office/drawing/2014/main" id="{B5353535-65D3-4143-B889-03F9589A5716}"/>
              </a:ext>
            </a:extLst>
          </p:cNvPr>
          <p:cNvSpPr>
            <a:spLocks xmlns:a="http://schemas.openxmlformats.org/drawingml/2006/main" noGrp="1"/>
          </p:cNvSpPr>
          <p:nvPr/>
        </p:nvSpPr>
        <p:spPr>
          <a:xfrm xmlns:a="http://schemas.openxmlformats.org/drawingml/2006/main">
            <a:off x="3476625" y="2971800"/>
            <a:ext cx="7048500" cy="4572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PostgreSQL</a:t>
            </a:r>
          </a:p>
        </p:txBody>
      </p:sp>
      <p:sp>
        <p:nvSpPr>
          <p:cNvPr id="10" name="">
            <a:extLst xmlns:a="http://schemas.openxmlformats.org/drawingml/2006/main">
              <a:ext uri="{FF2B5EF4-FFF2-40B4-BE49-F238E27FC236}">
                <a16:creationId xmlns:a16="http://schemas.microsoft.com/office/drawing/2014/main" id="{FAF6A26E-29DB-43E0-9587-DE44FA1DEF16}"/>
              </a:ext>
            </a:extLst>
          </p:cNvPr>
          <p:cNvSpPr>
            <a:spLocks xmlns:a="http://schemas.openxmlformats.org/drawingml/2006/main" noGrp="1"/>
          </p:cNvSpPr>
          <p:nvPr/>
        </p:nvSpPr>
        <p:spPr>
          <a:xfrm xmlns:a="http://schemas.openxmlformats.org/drawingml/2006/main">
            <a:off x="809625" y="367665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Machine Learning</a:t>
            </a:r>
          </a:p>
        </p:txBody>
      </p:sp>
      <p:sp>
        <p:nvSpPr>
          <p:cNvPr id="11" name="">
            <a:extLst xmlns:a="http://schemas.openxmlformats.org/drawingml/2006/main">
              <a:ext uri="{FF2B5EF4-FFF2-40B4-BE49-F238E27FC236}">
                <a16:creationId xmlns:a16="http://schemas.microsoft.com/office/drawing/2014/main" id="{6FFB8D20-4A17-47A2-97B9-A4F999D4FA13}"/>
              </a:ext>
            </a:extLst>
          </p:cNvPr>
          <p:cNvSpPr>
            <a:spLocks xmlns:a="http://schemas.openxmlformats.org/drawingml/2006/main" noGrp="1"/>
          </p:cNvSpPr>
          <p:nvPr/>
        </p:nvSpPr>
        <p:spPr>
          <a:xfrm xmlns:a="http://schemas.openxmlformats.org/drawingml/2006/main">
            <a:off x="3476625" y="3676650"/>
            <a:ext cx="7048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pandas, NumPy, scikit-learn, joblib</a:t>
            </a:r>
          </a:p>
        </p:txBody>
      </p:sp>
      <p:sp>
        <p:nvSpPr>
          <p:cNvPr id="12" name="">
            <a:extLst xmlns:a="http://schemas.openxmlformats.org/drawingml/2006/main">
              <a:ext uri="{FF2B5EF4-FFF2-40B4-BE49-F238E27FC236}">
                <a16:creationId xmlns:a16="http://schemas.microsoft.com/office/drawing/2014/main" id="{FCB2E23C-A446-48FA-B9B5-52670BA14727}"/>
              </a:ext>
            </a:extLst>
          </p:cNvPr>
          <p:cNvSpPr>
            <a:spLocks xmlns:a="http://schemas.openxmlformats.org/drawingml/2006/main" noGrp="1"/>
          </p:cNvSpPr>
          <p:nvPr/>
        </p:nvSpPr>
        <p:spPr>
          <a:xfrm xmlns:a="http://schemas.openxmlformats.org/drawingml/2006/main">
            <a:off x="809625" y="438150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Data / API</a:t>
            </a:r>
          </a:p>
        </p:txBody>
      </p:sp>
      <p:sp>
        <p:nvSpPr>
          <p:cNvPr id="13" name="">
            <a:extLst xmlns:a="http://schemas.openxmlformats.org/drawingml/2006/main">
              <a:ext uri="{FF2B5EF4-FFF2-40B4-BE49-F238E27FC236}">
                <a16:creationId xmlns:a16="http://schemas.microsoft.com/office/drawing/2014/main" id="{8E9AB01E-FDB4-40CB-BE4E-2CA611DB9199}"/>
              </a:ext>
            </a:extLst>
          </p:cNvPr>
          <p:cNvSpPr>
            <a:spLocks xmlns:a="http://schemas.openxmlformats.org/drawingml/2006/main" noGrp="1"/>
          </p:cNvSpPr>
          <p:nvPr/>
        </p:nvSpPr>
        <p:spPr>
          <a:xfrm xmlns:a="http://schemas.openxmlformats.org/drawingml/2006/main">
            <a:off x="3476625" y="4381500"/>
            <a:ext cx="7048500" cy="4572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Local archive_c CSV; optional Open-Meteo Archive update script</a:t>
            </a:r>
          </a:p>
        </p:txBody>
      </p:sp>
      <p:sp>
        <p:nvSpPr>
          <p:cNvPr id="14" name="">
            <a:extLst xmlns:a="http://schemas.openxmlformats.org/drawingml/2006/main">
              <a:ext uri="{FF2B5EF4-FFF2-40B4-BE49-F238E27FC236}">
                <a16:creationId xmlns:a16="http://schemas.microsoft.com/office/drawing/2014/main" id="{C2797F4A-E918-4D98-BAEE-1FB961E89F00}"/>
              </a:ext>
            </a:extLst>
          </p:cNvPr>
          <p:cNvSpPr>
            <a:spLocks xmlns:a="http://schemas.openxmlformats.org/drawingml/2006/main" noGrp="1"/>
          </p:cNvSpPr>
          <p:nvPr/>
        </p:nvSpPr>
        <p:spPr>
          <a:xfrm xmlns:a="http://schemas.openxmlformats.org/drawingml/2006/main">
            <a:off x="809625" y="5086350"/>
            <a:ext cx="2381250" cy="457200"/>
          </a:xfrm>
          <a:prstGeom xmlns:a="http://schemas.openxmlformats.org/drawingml/2006/main" prst="roundRect">
            <a:avLst>
              <a:gd name="adj" fmla="val 16667"/>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Deployment</a:t>
            </a:r>
          </a:p>
        </p:txBody>
      </p:sp>
      <p:sp>
        <p:nvSpPr>
          <p:cNvPr id="15" name="">
            <a:extLst xmlns:a="http://schemas.openxmlformats.org/drawingml/2006/main">
              <a:ext uri="{FF2B5EF4-FFF2-40B4-BE49-F238E27FC236}">
                <a16:creationId xmlns:a16="http://schemas.microsoft.com/office/drawing/2014/main" id="{6CE1F23E-1D33-461B-8403-7092AA514F3D}"/>
              </a:ext>
            </a:extLst>
          </p:cNvPr>
          <p:cNvSpPr>
            <a:spLocks xmlns:a="http://schemas.openxmlformats.org/drawingml/2006/main" noGrp="1"/>
          </p:cNvSpPr>
          <p:nvPr/>
        </p:nvSpPr>
        <p:spPr>
          <a:xfrm xmlns:a="http://schemas.openxmlformats.org/drawingml/2006/main">
            <a:off x="3476625" y="5086350"/>
            <a:ext cx="7048500" cy="4572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Local configuration only. No cloud deployment service verified.</a:t>
            </a:r>
          </a:p>
        </p:txBody>
      </p:sp>
      <p:sp>
        <p:nvSpPr>
          <p:cNvPr id="16" name="">
            <a:extLst xmlns:a="http://schemas.openxmlformats.org/drawingml/2006/main">
              <a:ext uri="{FF2B5EF4-FFF2-40B4-BE49-F238E27FC236}">
                <a16:creationId xmlns:a16="http://schemas.microsoft.com/office/drawing/2014/main" id="{54CE60CE-721A-4CD7-AA18-EA6F000BB68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7" name="">
            <a:extLst xmlns:a="http://schemas.openxmlformats.org/drawingml/2006/main">
              <a:ext uri="{FF2B5EF4-FFF2-40B4-BE49-F238E27FC236}">
                <a16:creationId xmlns:a16="http://schemas.microsoft.com/office/drawing/2014/main" id="{458EE99B-CD2D-43F0-8D5B-2D5DA81DC614}"/>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8" name="">
            <a:extLst xmlns:a="http://schemas.openxmlformats.org/drawingml/2006/main">
              <a:ext uri="{FF2B5EF4-FFF2-40B4-BE49-F238E27FC236}">
                <a16:creationId xmlns:a16="http://schemas.microsoft.com/office/drawing/2014/main" id="{7BC1C9E5-BA49-4941-910C-0C4BA16CDA56}"/>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07</a:t>
            </a:r>
          </a:p>
        </p:txBody>
      </p:sp>
    </p:spTree>
    <p:extLst>
      <p:ext uri="{BB962C8B-B14F-4D97-AF65-F5344CB8AC3E}">
        <p14:creationId xmlns:p14="http://schemas.microsoft.com/office/powerpoint/2010/main" val="1725524190"/>
      </p:ext>
    </p:extLst>
  </p:cSld>
</p:sld>
</file>

<file path=ppt/slides/slide8.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BC9521-9599-433B-828F-CB5EE4E41760}"/>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DF8C5282-9B1D-479A-A7CC-7DDEA24A556C}"/>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121914-68BE-4290-9FFA-DC0B57868B7B}"/>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Model source: data/archive_c/PSP_Weather_Merged_EDA_Cleaned.csv</a:t>
            </a:r>
          </a:p>
        </p:txBody>
      </p:sp>
      <p:graphicFrame>
        <p:nvGraphicFramePr>
          <p:cNvPr id="12" name=""/>
          <p:cNvGraphicFramePr/>
          <p:nvPr/>
        </p:nvGraphicFramePr>
        <p:xfrm>
          <a:off xmlns:a="http://schemas.openxmlformats.org/drawingml/2006/main" x="619125" y="1543050"/>
          <a:ext xmlns:a="http://schemas.openxmlformats.org/drawingml/2006/main" cx="10953750" cy="3924300"/>
        </p:xfrm>
        <a:graphic xmlns:a="http://schemas.openxmlformats.org/drawingml/2006/main">
          <a:graphicData uri="http://schemas.openxmlformats.org/drawingml/2006/table">
            <a:tbl>
              <a:tblPr firstRow="1" bandRow="1"/>
              <a:tblGrid>
                <a:gridCol w="2571750"/>
                <a:gridCol w="8382000"/>
              </a:tblGrid>
              <a:tr h="490538">
                <a:tc>
                  <a:txBody>
                    <a:bodyPr>
                      <a:normAutofit/>
                    </a:bodyPr>
                    <a:lstStyle/>
                    <a:p>
                      <a:r>
                        <a:rPr sz="1050" b="1">
                          <a:solidFill>
                            <a:srgbClr val="FFFFFF"/>
                          </a:solidFill>
                          <a:latin typeface="Arial"/>
                          <a:ea typeface="Arial"/>
                          <a:cs typeface="Arial"/>
                        </a:rPr>
                        <a:t>Item</a:t>
                      </a:r>
                    </a:p>
                  </a:txBody>
                  <a:tcPr marL="91440" marR="91440" marT="45720" marB="45720">
                    <a:solidFill>
                      <a:srgbClr val="0B2545"/>
                    </a:solidFill>
                  </a:tcPr>
                </a:tc>
                <a:tc>
                  <a:txBody>
                    <a:bodyPr>
                      <a:normAutofit/>
                    </a:bodyPr>
                    <a:lstStyle/>
                    <a:p>
                      <a:r>
                        <a:rPr sz="1050" b="1">
                          <a:solidFill>
                            <a:srgbClr val="FFFFFF"/>
                          </a:solidFill>
                          <a:latin typeface="Arial"/>
                          <a:ea typeface="Arial"/>
                          <a:cs typeface="Arial"/>
                        </a:rPr>
                        <a:t>Verified value</a:t>
                      </a:r>
                    </a:p>
                  </a:txBody>
                  <a:tcPr marL="91440" marR="91440" marT="45720" marB="45720">
                    <a:solidFill>
                      <a:srgbClr val="0B2545"/>
                    </a:solidFill>
                  </a:tcPr>
                </a:tc>
              </a:tr>
              <a:tr h="490538">
                <a:tc>
                  <a:txBody>
                    <a:bodyPr>
                      <a:normAutofit/>
                    </a:bodyPr>
                    <a:lstStyle/>
                    <a:p>
                      <a:r>
                        <a:rPr sz="1050">
                          <a:solidFill>
                            <a:srgbClr val="17324D"/>
                          </a:solidFill>
                          <a:latin typeface="Arial"/>
                          <a:ea typeface="Arial"/>
                          <a:cs typeface="Arial"/>
                        </a:rPr>
                        <a:t>Dataset documentation</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Weather-Driven Indian Power Demand Dataset; archive_c README credits Vaibhav Porwal, CC BY 4.0</a:t>
                      </a:r>
                    </a:p>
                  </a:txBody>
                  <a:tcPr marL="91440" marR="91440" marT="45720" marB="45720">
                    <a:solidFill>
                      <a:srgbClr val="FFFFFF"/>
                    </a:solidFill>
                  </a:tcPr>
                </a:tc>
              </a:tr>
              <a:tr h="490538">
                <a:tc>
                  <a:txBody>
                    <a:bodyPr>
                      <a:normAutofit/>
                    </a:bodyPr>
                    <a:lstStyle/>
                    <a:p>
                      <a:r>
                        <a:rPr sz="1050">
                          <a:solidFill>
                            <a:srgbClr val="17324D"/>
                          </a:solidFill>
                          <a:latin typeface="Arial"/>
                          <a:ea typeface="Arial"/>
                          <a:cs typeface="Arial"/>
                        </a:rPr>
                        <a:t>Source rows / states</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31,177 rows across 34 state labels</a:t>
                      </a:r>
                    </a:p>
                  </a:txBody>
                  <a:tcPr marL="91440" marR="91440" marT="45720" marB="45720">
                    <a:solidFill>
                      <a:srgbClr val="EAF6FC"/>
                    </a:solidFill>
                  </a:tcPr>
                </a:tc>
              </a:tr>
              <a:tr h="490538">
                <a:tc>
                  <a:txBody>
                    <a:bodyPr>
                      <a:normAutofit/>
                    </a:bodyPr>
                    <a:lstStyle/>
                    <a:p>
                      <a:r>
                        <a:rPr sz="1050">
                          <a:solidFill>
                            <a:srgbClr val="17324D"/>
                          </a:solidFill>
                          <a:latin typeface="Arial"/>
                          <a:ea typeface="Arial"/>
                          <a:cs typeface="Arial"/>
                        </a:rPr>
                        <a:t>Date range</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2023-04-01 to 2025-10-06</a:t>
                      </a:r>
                    </a:p>
                  </a:txBody>
                  <a:tcPr marL="91440" marR="91440" marT="45720" marB="45720">
                    <a:solidFill>
                      <a:srgbClr val="FFFFFF"/>
                    </a:solidFill>
                  </a:tcPr>
                </a:tc>
              </a:tr>
              <a:tr h="490538">
                <a:tc>
                  <a:txBody>
                    <a:bodyPr>
                      <a:normAutofit/>
                    </a:bodyPr>
                    <a:lstStyle/>
                    <a:p>
                      <a:r>
                        <a:rPr sz="1050">
                          <a:solidFill>
                            <a:srgbClr val="17324D"/>
                          </a:solidFill>
                          <a:latin typeface="Arial"/>
                          <a:ea typeface="Arial"/>
                          <a:cs typeface="Arial"/>
                        </a:rPr>
                        <a:t>Model variables selected</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Date, State, Temp_Max, Temp_Min, Temp_Avg, Humidity, Rainfall, Month, Season</a:t>
                      </a:r>
                    </a:p>
                  </a:txBody>
                  <a:tcPr marL="91440" marR="91440" marT="45720" marB="45720">
                    <a:solidFill>
                      <a:srgbClr val="EAF6FC"/>
                    </a:solidFill>
                  </a:tcPr>
                </a:tc>
              </a:tr>
              <a:tr h="490538">
                <a:tc>
                  <a:txBody>
                    <a:bodyPr>
                      <a:normAutofit/>
                    </a:bodyPr>
                    <a:lstStyle/>
                    <a:p>
                      <a:r>
                        <a:rPr sz="1050">
                          <a:solidFill>
                            <a:srgbClr val="17324D"/>
                          </a:solidFill>
                          <a:latin typeface="Arial"/>
                          <a:ea typeface="Arial"/>
                          <a:cs typeface="Arial"/>
                        </a:rPr>
                        <a:t>Missing values</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0 in all required modelling columns</a:t>
                      </a:r>
                    </a:p>
                  </a:txBody>
                  <a:tcPr marL="91440" marR="91440" marT="45720" marB="45720">
                    <a:solidFill>
                      <a:srgbClr val="FFFFFF"/>
                    </a:solidFill>
                  </a:tcPr>
                </a:tc>
              </a:tr>
              <a:tr h="490538">
                <a:tc>
                  <a:txBody>
                    <a:bodyPr>
                      <a:normAutofit/>
                    </a:bodyPr>
                    <a:lstStyle/>
                    <a:p>
                      <a:r>
                        <a:rPr sz="1050">
                          <a:solidFill>
                            <a:srgbClr val="17324D"/>
                          </a:solidFill>
                          <a:latin typeface="Arial"/>
                          <a:ea typeface="Arial"/>
                          <a:cs typeface="Arial"/>
                        </a:rPr>
                        <a:t>Duplicate checks</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0 duplicate State-Date pairs; 0 exact duplicate rows</a:t>
                      </a:r>
                    </a:p>
                  </a:txBody>
                  <a:tcPr marL="91440" marR="91440" marT="45720" marB="45720">
                    <a:solidFill>
                      <a:srgbClr val="EAF6FC"/>
                    </a:solidFill>
                  </a:tcPr>
                </a:tc>
              </a:tr>
              <a:tr h="490538">
                <a:tc>
                  <a:txBody>
                    <a:bodyPr>
                      <a:normAutofit/>
                    </a:bodyPr>
                    <a:lstStyle/>
                    <a:p>
                      <a:r>
                        <a:rPr sz="1050">
                          <a:solidFill>
                            <a:srgbClr val="17324D"/>
                          </a:solidFill>
                          <a:latin typeface="Arial"/>
                          <a:ea typeface="Arial"/>
                          <a:cs typeface="Arial"/>
                        </a:rPr>
                        <a:t>Preprocessing</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Parse date; select weather fields; drop missing values; sort by state and date. Importer also coerces types and removes duplicate state-date rows.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9763E9F-1D3B-4DEF-9DDC-531F84FF08F1}"/>
              </a:ext>
            </a:extLst>
          </p:cNvPr>
          <p:cNvSpPr>
            <a:spLocks xmlns:a="http://schemas.openxmlformats.org/drawingml/2006/main" noGrp="1"/>
          </p:cNvSpPr>
          <p:nvPr/>
        </p:nvSpPr>
        <p:spPr>
          <a:xfrm xmlns:a="http://schemas.openxmlformats.org/drawingml/2006/main">
            <a:off x="762000" y="57721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077B6"/>
                </a:solidFill>
                <a:latin typeface="Arial"/>
                <a:ea typeface="Arial"/>
                <a:cs typeface="Arial"/>
              </a:defRPr>
            </a:pPr>
            <a:r>
              <a:rPr sz="1125" b="1">
                <a:solidFill>
                  <a:srgbClr val="0077B6"/>
                </a:solidFill>
                <a:latin typeface="Arial"/>
                <a:ea typeface="Arial"/>
                <a:cs typeface="Arial"/>
              </a:rPr>
              <a:t>Power-demand columns exist in the source but are intentionally excluded from the ML pipeline.</a:t>
            </a:r>
          </a:p>
        </p:txBody>
      </p:sp>
      <p:sp>
        <p:nvSpPr>
          <p:cNvPr id="6" name="">
            <a:extLst xmlns:a="http://schemas.openxmlformats.org/drawingml/2006/main">
              <a:ext uri="{FF2B5EF4-FFF2-40B4-BE49-F238E27FC236}">
                <a16:creationId xmlns:a16="http://schemas.microsoft.com/office/drawing/2014/main" id="{87093E61-8B21-4C06-95F0-3F3FE72872C1}"/>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7" name="">
            <a:extLst xmlns:a="http://schemas.openxmlformats.org/drawingml/2006/main">
              <a:ext uri="{FF2B5EF4-FFF2-40B4-BE49-F238E27FC236}">
                <a16:creationId xmlns:a16="http://schemas.microsoft.com/office/drawing/2014/main" id="{C1F33277-14E1-4FDB-B469-51ECE09F0F94}"/>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8" name="">
            <a:extLst xmlns:a="http://schemas.openxmlformats.org/drawingml/2006/main">
              <a:ext uri="{FF2B5EF4-FFF2-40B4-BE49-F238E27FC236}">
                <a16:creationId xmlns:a16="http://schemas.microsoft.com/office/drawing/2014/main" id="{06FC5B8E-75F6-4D1D-B972-2F5613512282}"/>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08</a:t>
            </a:r>
          </a:p>
        </p:txBody>
      </p:sp>
    </p:spTree>
    <p:extLst>
      <p:ext uri="{BB962C8B-B14F-4D97-AF65-F5344CB8AC3E}">
        <p14:creationId xmlns:p14="http://schemas.microsoft.com/office/powerpoint/2010/main" val="1336426473"/>
      </p:ext>
    </p:extLst>
  </p:cSld>
</p:sld>
</file>

<file path=ppt/slides/slide9.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FCAE97C-47D3-4008-9F41-4C42408F3525}"/>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Machine Learning Model</a:t>
            </a:r>
          </a:p>
        </p:txBody>
      </p:sp>
      <p:sp>
        <p:nvSpPr>
          <p:cNvPr id="2" name="">
            <a:extLst xmlns:a="http://schemas.openxmlformats.org/drawingml/2006/main">
              <a:ext uri="{FF2B5EF4-FFF2-40B4-BE49-F238E27FC236}">
                <a16:creationId xmlns:a16="http://schemas.microsoft.com/office/drawing/2014/main" id="{24867A5B-02D6-47A0-A807-83E3E67B5930}"/>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05AFAB2-FB48-45F6-A4CF-098126C33DEA}"/>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Saved model and test metrics from repository metadata</a:t>
            </a:r>
          </a:p>
        </p:txBody>
      </p:sp>
      <p:sp>
        <p:nvSpPr>
          <p:cNvPr id="4" name="">
            <a:extLst xmlns:a="http://schemas.openxmlformats.org/drawingml/2006/main">
              <a:ext uri="{FF2B5EF4-FFF2-40B4-BE49-F238E27FC236}">
                <a16:creationId xmlns:a16="http://schemas.microsoft.com/office/drawing/2014/main" id="{777729A5-66A7-4A05-BB5F-0BE3B9051969}"/>
              </a:ext>
            </a:extLst>
          </p:cNvPr>
          <p:cNvSpPr>
            <a:spLocks xmlns:a="http://schemas.openxmlformats.org/drawingml/2006/main" noGrp="1"/>
          </p:cNvSpPr>
          <p:nvPr/>
        </p:nvSpPr>
        <p:spPr>
          <a:xfrm xmlns:a="http://schemas.openxmlformats.org/drawingml/2006/main">
            <a:off x="762000" y="1571625"/>
            <a:ext cx="4333875" cy="619125"/>
          </a:xfrm>
          <a:prstGeom xmlns:a="http://schemas.openxmlformats.org/drawingml/2006/main" prst="roundRect">
            <a:avLst>
              <a:gd name="adj" fmla="val 18462"/>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Gradient Boosting Regressor</a:t>
            </a:r>
          </a:p>
        </p:txBody>
      </p:sp>
      <p:sp>
        <p:nvSpPr>
          <p:cNvPr id="5" name="">
            <a:extLst xmlns:a="http://schemas.openxmlformats.org/drawingml/2006/main">
              <a:ext uri="{FF2B5EF4-FFF2-40B4-BE49-F238E27FC236}">
                <a16:creationId xmlns:a16="http://schemas.microsoft.com/office/drawing/2014/main" id="{B275AFA9-1D1F-4DD0-BDDE-A9996485C30F}"/>
              </a:ext>
            </a:extLst>
          </p:cNvPr>
          <p:cNvSpPr>
            <a:spLocks xmlns:a="http://schemas.openxmlformats.org/drawingml/2006/main" noGrp="1"/>
          </p:cNvSpPr>
          <p:nvPr/>
        </p:nvSpPr>
        <p:spPr>
          <a:xfrm xmlns:a="http://schemas.openxmlformats.org/drawingml/2006/main">
            <a:off x="762000" y="2362200"/>
            <a:ext cx="433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0077B6"/>
                </a:solidFill>
                <a:latin typeface="Arial"/>
                <a:ea typeface="Arial"/>
                <a:cs typeface="Arial"/>
              </a:defRPr>
            </a:pPr>
            <a:r>
              <a:rPr sz="1500" b="1">
                <a:solidFill>
                  <a:srgbClr val="0077B6"/>
                </a:solidFill>
                <a:latin typeface="Arial"/>
                <a:ea typeface="Arial"/>
                <a:cs typeface="Arial"/>
              </a:rPr>
              <a:t>Target: next-day Temp_Avg (deg C)</a:t>
            </a:r>
          </a:p>
        </p:txBody>
      </p:sp>
      <p:sp>
        <p:nvSpPr>
          <p:cNvPr id="6" name="">
            <a:extLst xmlns:a="http://schemas.openxmlformats.org/drawingml/2006/main">
              <a:ext uri="{FF2B5EF4-FFF2-40B4-BE49-F238E27FC236}">
                <a16:creationId xmlns:a16="http://schemas.microsoft.com/office/drawing/2014/main" id="{4FEA0C1F-33A9-4062-B998-D633D2244E0F}"/>
              </a:ext>
            </a:extLst>
          </p:cNvPr>
          <p:cNvSpPr>
            <a:spLocks xmlns:a="http://schemas.openxmlformats.org/drawingml/2006/main" noGrp="1"/>
          </p:cNvSpPr>
          <p:nvPr/>
        </p:nvSpPr>
        <p:spPr>
          <a:xfrm xmlns:a="http://schemas.openxmlformats.org/drawingml/2006/main">
            <a:off x="762000" y="314325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67089"/>
                </a:solidFill>
                <a:latin typeface="Arial"/>
                <a:ea typeface="Arial"/>
                <a:cs typeface="Arial"/>
              </a:defRPr>
            </a:pPr>
            <a:r>
              <a:rPr sz="1125" b="1">
                <a:solidFill>
                  <a:srgbClr val="567089"/>
                </a:solidFill>
                <a:latin typeface="Arial"/>
                <a:ea typeface="Arial"/>
                <a:cs typeface="Arial"/>
              </a:rPr>
              <a:t>MAE</a:t>
            </a:r>
          </a:p>
        </p:txBody>
      </p:sp>
      <p:sp>
        <p:nvSpPr>
          <p:cNvPr id="7" name="">
            <a:extLst xmlns:a="http://schemas.openxmlformats.org/drawingml/2006/main">
              <a:ext uri="{FF2B5EF4-FFF2-40B4-BE49-F238E27FC236}">
                <a16:creationId xmlns:a16="http://schemas.microsoft.com/office/drawing/2014/main" id="{76055F5E-BBEB-4C93-8F1C-943DB7F956A6}"/>
              </a:ext>
            </a:extLst>
          </p:cNvPr>
          <p:cNvSpPr>
            <a:spLocks xmlns:a="http://schemas.openxmlformats.org/drawingml/2006/main" noGrp="1"/>
          </p:cNvSpPr>
          <p:nvPr/>
        </p:nvSpPr>
        <p:spPr>
          <a:xfrm xmlns:a="http://schemas.openxmlformats.org/drawingml/2006/main">
            <a:off x="762000" y="3505200"/>
            <a:ext cx="138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2545"/>
                </a:solidFill>
                <a:latin typeface="Arial"/>
                <a:ea typeface="Arial"/>
                <a:cs typeface="Arial"/>
              </a:defRPr>
            </a:pPr>
            <a:r>
              <a:rPr sz="1575" b="1">
                <a:solidFill>
                  <a:srgbClr val="0B2545"/>
                </a:solidFill>
                <a:latin typeface="Arial"/>
                <a:ea typeface="Arial"/>
                <a:cs typeface="Arial"/>
              </a:rPr>
              <a:t>0.8760 °C</a:t>
            </a:r>
          </a:p>
        </p:txBody>
      </p:sp>
      <p:sp>
        <p:nvSpPr>
          <p:cNvPr id="8" name="">
            <a:extLst xmlns:a="http://schemas.openxmlformats.org/drawingml/2006/main">
              <a:ext uri="{FF2B5EF4-FFF2-40B4-BE49-F238E27FC236}">
                <a16:creationId xmlns:a16="http://schemas.microsoft.com/office/drawing/2014/main" id="{473C5CD7-E1E5-4C5A-81C2-581449BC57D9}"/>
              </a:ext>
            </a:extLst>
          </p:cNvPr>
          <p:cNvSpPr>
            <a:spLocks xmlns:a="http://schemas.openxmlformats.org/drawingml/2006/main" noGrp="1"/>
          </p:cNvSpPr>
          <p:nvPr/>
        </p:nvSpPr>
        <p:spPr>
          <a:xfrm xmlns:a="http://schemas.openxmlformats.org/drawingml/2006/main">
            <a:off x="2286000" y="314325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67089"/>
                </a:solidFill>
                <a:latin typeface="Arial"/>
                <a:ea typeface="Arial"/>
                <a:cs typeface="Arial"/>
              </a:defRPr>
            </a:pPr>
            <a:r>
              <a:rPr sz="1125" b="1">
                <a:solidFill>
                  <a:srgbClr val="567089"/>
                </a:solidFill>
                <a:latin typeface="Arial"/>
                <a:ea typeface="Arial"/>
                <a:cs typeface="Arial"/>
              </a:rPr>
              <a:t>RMSE</a:t>
            </a:r>
          </a:p>
        </p:txBody>
      </p:sp>
      <p:sp>
        <p:nvSpPr>
          <p:cNvPr id="9" name="">
            <a:extLst xmlns:a="http://schemas.openxmlformats.org/drawingml/2006/main">
              <a:ext uri="{FF2B5EF4-FFF2-40B4-BE49-F238E27FC236}">
                <a16:creationId xmlns:a16="http://schemas.microsoft.com/office/drawing/2014/main" id="{AC8109C6-D8E7-421E-8BEB-FB2B188AD99A}"/>
              </a:ext>
            </a:extLst>
          </p:cNvPr>
          <p:cNvSpPr>
            <a:spLocks xmlns:a="http://schemas.openxmlformats.org/drawingml/2006/main" noGrp="1"/>
          </p:cNvSpPr>
          <p:nvPr/>
        </p:nvSpPr>
        <p:spPr>
          <a:xfrm xmlns:a="http://schemas.openxmlformats.org/drawingml/2006/main">
            <a:off x="2286000" y="3505200"/>
            <a:ext cx="138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2545"/>
                </a:solidFill>
                <a:latin typeface="Arial"/>
                <a:ea typeface="Arial"/>
                <a:cs typeface="Arial"/>
              </a:defRPr>
            </a:pPr>
            <a:r>
              <a:rPr sz="1575" b="1">
                <a:solidFill>
                  <a:srgbClr val="0B2545"/>
                </a:solidFill>
                <a:latin typeface="Arial"/>
                <a:ea typeface="Arial"/>
                <a:cs typeface="Arial"/>
              </a:rPr>
              <a:t>1.1854 °C</a:t>
            </a:r>
          </a:p>
        </p:txBody>
      </p:sp>
      <p:sp>
        <p:nvSpPr>
          <p:cNvPr id="10" name="">
            <a:extLst xmlns:a="http://schemas.openxmlformats.org/drawingml/2006/main">
              <a:ext uri="{FF2B5EF4-FFF2-40B4-BE49-F238E27FC236}">
                <a16:creationId xmlns:a16="http://schemas.microsoft.com/office/drawing/2014/main" id="{3D4BF768-6888-404B-96BA-603F566D4C74}"/>
              </a:ext>
            </a:extLst>
          </p:cNvPr>
          <p:cNvSpPr>
            <a:spLocks xmlns:a="http://schemas.openxmlformats.org/drawingml/2006/main" noGrp="1"/>
          </p:cNvSpPr>
          <p:nvPr/>
        </p:nvSpPr>
        <p:spPr>
          <a:xfrm xmlns:a="http://schemas.openxmlformats.org/drawingml/2006/main">
            <a:off x="3810000" y="3143250"/>
            <a:ext cx="1381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567089"/>
                </a:solidFill>
                <a:latin typeface="Arial"/>
                <a:ea typeface="Arial"/>
                <a:cs typeface="Arial"/>
              </a:defRPr>
            </a:pPr>
            <a:r>
              <a:rPr sz="1125" b="1">
                <a:solidFill>
                  <a:srgbClr val="567089"/>
                </a:solidFill>
                <a:latin typeface="Arial"/>
                <a:ea typeface="Arial"/>
                <a:cs typeface="Arial"/>
              </a:rPr>
              <a:t>R²</a:t>
            </a:r>
          </a:p>
        </p:txBody>
      </p:sp>
      <p:sp>
        <p:nvSpPr>
          <p:cNvPr id="11" name="">
            <a:extLst xmlns:a="http://schemas.openxmlformats.org/drawingml/2006/main">
              <a:ext uri="{FF2B5EF4-FFF2-40B4-BE49-F238E27FC236}">
                <a16:creationId xmlns:a16="http://schemas.microsoft.com/office/drawing/2014/main" id="{C669DDAF-D811-4F2C-B1D3-DD1D482F0836}"/>
              </a:ext>
            </a:extLst>
          </p:cNvPr>
          <p:cNvSpPr>
            <a:spLocks xmlns:a="http://schemas.openxmlformats.org/drawingml/2006/main" noGrp="1"/>
          </p:cNvSpPr>
          <p:nvPr/>
        </p:nvSpPr>
        <p:spPr>
          <a:xfrm xmlns:a="http://schemas.openxmlformats.org/drawingml/2006/main">
            <a:off x="3810000" y="3505200"/>
            <a:ext cx="138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0B2545"/>
                </a:solidFill>
                <a:latin typeface="Arial"/>
                <a:ea typeface="Arial"/>
                <a:cs typeface="Arial"/>
              </a:defRPr>
            </a:pPr>
            <a:r>
              <a:rPr sz="1575" b="1">
                <a:solidFill>
                  <a:srgbClr val="0B2545"/>
                </a:solidFill>
                <a:latin typeface="Arial"/>
                <a:ea typeface="Arial"/>
                <a:cs typeface="Arial"/>
              </a:rPr>
              <a:t>0.9694</a:t>
            </a:r>
          </a:p>
        </p:txBody>
      </p:sp>
      <p:sp>
        <p:nvSpPr>
          <p:cNvPr id="12" name="">
            <a:extLst xmlns:a="http://schemas.openxmlformats.org/drawingml/2006/main">
              <a:ext uri="{FF2B5EF4-FFF2-40B4-BE49-F238E27FC236}">
                <a16:creationId xmlns:a16="http://schemas.microsoft.com/office/drawing/2014/main" id="{23BF8277-E0F1-4112-9B0B-D1684FAE4313}"/>
              </a:ext>
            </a:extLst>
          </p:cNvPr>
          <p:cNvSpPr>
            <a:spLocks xmlns:a="http://schemas.openxmlformats.org/drawingml/2006/main" noGrp="1"/>
          </p:cNvSpPr>
          <p:nvPr/>
        </p:nvSpPr>
        <p:spPr>
          <a:xfrm xmlns:a="http://schemas.openxmlformats.org/drawingml/2006/main">
            <a:off x="6191250" y="15716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defRPr sz="1650" b="1">
                <a:solidFill>
                  <a:srgbClr val="0077B6"/>
                </a:solidFill>
                <a:latin typeface="Arial"/>
                <a:ea typeface="Arial"/>
                <a:cs typeface="Arial"/>
              </a:defRPr>
            </a:pPr>
            <a:r>
              <a:rPr sz="1650" b="1">
                <a:solidFill>
                  <a:srgbClr val="0077B6"/>
                </a:solidFill>
                <a:latin typeface="Arial"/>
                <a:ea typeface="Arial"/>
                <a:cs typeface="Arial"/>
              </a:rPr>
              <a:t>Training process</a:t>
            </a:r>
          </a:p>
        </p:txBody>
      </p:sp>
      <p:sp>
        <p:nvSpPr>
          <p:cNvPr id="13" name="">
            <a:extLst xmlns:a="http://schemas.openxmlformats.org/drawingml/2006/main">
              <a:ext uri="{FF2B5EF4-FFF2-40B4-BE49-F238E27FC236}">
                <a16:creationId xmlns:a16="http://schemas.microsoft.com/office/drawing/2014/main" id="{9055534D-54C1-4CE9-B197-F0370F32B81A}"/>
              </a:ext>
            </a:extLst>
          </p:cNvPr>
          <p:cNvSpPr>
            <a:spLocks xmlns:a="http://schemas.openxmlformats.org/drawingml/2006/main" noGrp="1"/>
          </p:cNvSpPr>
          <p:nvPr/>
        </p:nvSpPr>
        <p:spPr>
          <a:xfrm xmlns:a="http://schemas.openxmlformats.org/drawingml/2006/main">
            <a:off x="6429375" y="20764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Chronological 80% / 20% train-test split</a:t>
            </a:r>
          </a:p>
        </p:txBody>
      </p:sp>
      <p:sp>
        <p:nvSpPr>
          <p:cNvPr id="14" name="">
            <a:extLst xmlns:a="http://schemas.openxmlformats.org/drawingml/2006/main">
              <a:ext uri="{FF2B5EF4-FFF2-40B4-BE49-F238E27FC236}">
                <a16:creationId xmlns:a16="http://schemas.microsoft.com/office/drawing/2014/main" id="{66EA5773-D709-403D-9D37-629E7D48C2A1}"/>
              </a:ext>
            </a:extLst>
          </p:cNvPr>
          <p:cNvSpPr>
            <a:spLocks xmlns:a="http://schemas.openxmlformats.org/drawingml/2006/main" noGrp="1"/>
          </p:cNvSpPr>
          <p:nvPr/>
        </p:nvSpPr>
        <p:spPr>
          <a:xfrm xmlns:a="http://schemas.openxmlformats.org/drawingml/2006/main">
            <a:off x="6429375" y="26098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Common preprocessing for all candidates</a:t>
            </a:r>
          </a:p>
        </p:txBody>
      </p:sp>
      <p:sp>
        <p:nvSpPr>
          <p:cNvPr id="15" name="">
            <a:extLst xmlns:a="http://schemas.openxmlformats.org/drawingml/2006/main">
              <a:ext uri="{FF2B5EF4-FFF2-40B4-BE49-F238E27FC236}">
                <a16:creationId xmlns:a16="http://schemas.microsoft.com/office/drawing/2014/main" id="{67169465-CC0C-4E98-9C3E-7E649AEFE146}"/>
              </a:ext>
            </a:extLst>
          </p:cNvPr>
          <p:cNvSpPr>
            <a:spLocks xmlns:a="http://schemas.openxmlformats.org/drawingml/2006/main" noGrp="1"/>
          </p:cNvSpPr>
          <p:nvPr/>
        </p:nvSpPr>
        <p:spPr>
          <a:xfrm xmlns:a="http://schemas.openxmlformats.org/drawingml/2006/main">
            <a:off x="6429375" y="31432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Model selected by lowest test RMSE</a:t>
            </a:r>
          </a:p>
        </p:txBody>
      </p:sp>
      <p:sp>
        <p:nvSpPr>
          <p:cNvPr id="16" name="">
            <a:extLst xmlns:a="http://schemas.openxmlformats.org/drawingml/2006/main">
              <a:ext uri="{FF2B5EF4-FFF2-40B4-BE49-F238E27FC236}">
                <a16:creationId xmlns:a16="http://schemas.microsoft.com/office/drawing/2014/main" id="{49762E0F-4DD8-4362-9842-3BC1F61BE28D}"/>
              </a:ext>
            </a:extLst>
          </p:cNvPr>
          <p:cNvSpPr>
            <a:spLocks xmlns:a="http://schemas.openxmlformats.org/drawingml/2006/main" noGrp="1"/>
          </p:cNvSpPr>
          <p:nvPr/>
        </p:nvSpPr>
        <p:spPr>
          <a:xfrm xmlns:a="http://schemas.openxmlformats.org/drawingml/2006/main">
            <a:off x="6429375" y="36766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Saved pipeline: model/weather_model.joblib</a:t>
            </a:r>
          </a:p>
        </p:txBody>
      </p:sp>
      <p:sp>
        <p:nvSpPr>
          <p:cNvPr id="17" name="">
            <a:extLst xmlns:a="http://schemas.openxmlformats.org/drawingml/2006/main">
              <a:ext uri="{FF2B5EF4-FFF2-40B4-BE49-F238E27FC236}">
                <a16:creationId xmlns:a16="http://schemas.microsoft.com/office/drawing/2014/main" id="{FCD61AB6-34D1-4BBF-9315-D8355E194DA0}"/>
              </a:ext>
            </a:extLst>
          </p:cNvPr>
          <p:cNvSpPr>
            <a:spLocks xmlns:a="http://schemas.openxmlformats.org/drawingml/2006/main" noGrp="1"/>
          </p:cNvSpPr>
          <p:nvPr/>
        </p:nvSpPr>
        <p:spPr>
          <a:xfrm xmlns:a="http://schemas.openxmlformats.org/drawingml/2006/main">
            <a:off x="6429375" y="421005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Metadata: model/model_info.json</a:t>
            </a:r>
          </a:p>
        </p:txBody>
      </p:sp>
      <p:sp>
        <p:nvSpPr>
          <p:cNvPr id="18" name="">
            <a:extLst xmlns:a="http://schemas.openxmlformats.org/drawingml/2006/main">
              <a:ext uri="{FF2B5EF4-FFF2-40B4-BE49-F238E27FC236}">
                <a16:creationId xmlns:a16="http://schemas.microsoft.com/office/drawing/2014/main" id="{FB606A78-401E-4DFF-867A-CE3027446551}"/>
              </a:ext>
            </a:extLst>
          </p:cNvPr>
          <p:cNvSpPr>
            <a:spLocks xmlns:a="http://schemas.openxmlformats.org/drawingml/2006/main" noGrp="1"/>
          </p:cNvSpPr>
          <p:nvPr/>
        </p:nvSpPr>
        <p:spPr>
          <a:xfrm xmlns:a="http://schemas.openxmlformats.org/drawingml/2006/main">
            <a:off x="762000" y="4667250"/>
            <a:ext cx="952500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Candidates: Linear Regression, Decision Tree, Random Forest, Gradient Boosting, and naive persistence reference</a:t>
            </a:r>
          </a:p>
        </p:txBody>
      </p:sp>
      <p:sp>
        <p:nvSpPr>
          <p:cNvPr id="19" name="">
            <a:extLst xmlns:a="http://schemas.openxmlformats.org/drawingml/2006/main">
              <a:ext uri="{FF2B5EF4-FFF2-40B4-BE49-F238E27FC236}">
                <a16:creationId xmlns:a16="http://schemas.microsoft.com/office/drawing/2014/main" id="{B1C039A6-7917-459E-A397-FA5FCFEA1DDB}"/>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20" name="">
            <a:extLst xmlns:a="http://schemas.openxmlformats.org/drawingml/2006/main">
              <a:ext uri="{FF2B5EF4-FFF2-40B4-BE49-F238E27FC236}">
                <a16:creationId xmlns:a16="http://schemas.microsoft.com/office/drawing/2014/main" id="{689C9A7B-27C4-419E-AC59-D23EB177E3EB}"/>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21" name="">
            <a:extLst xmlns:a="http://schemas.openxmlformats.org/drawingml/2006/main">
              <a:ext uri="{FF2B5EF4-FFF2-40B4-BE49-F238E27FC236}">
                <a16:creationId xmlns:a16="http://schemas.microsoft.com/office/drawing/2014/main" id="{594A5E81-F75F-46ED-8328-4CFE94685172}"/>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09</a:t>
            </a:r>
          </a:p>
        </p:txBody>
      </p:sp>
    </p:spTree>
    <p:extLst>
      <p:ext uri="{BB962C8B-B14F-4D97-AF65-F5344CB8AC3E}">
        <p14:creationId xmlns:p14="http://schemas.microsoft.com/office/powerpoint/2010/main" val="269198194"/>
      </p:ext>
    </p:extLst>
  </p:cSld>
</p:sld>
</file>

<file path=ppt/slides/slide10.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088832C-4B42-4A22-BAA2-44C70AA8198A}"/>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Feature Engineering</a:t>
            </a:r>
          </a:p>
        </p:txBody>
      </p:sp>
      <p:sp>
        <p:nvSpPr>
          <p:cNvPr id="2" name="">
            <a:extLst xmlns:a="http://schemas.openxmlformats.org/drawingml/2006/main">
              <a:ext uri="{FF2B5EF4-FFF2-40B4-BE49-F238E27FC236}">
                <a16:creationId xmlns:a16="http://schemas.microsoft.com/office/drawing/2014/main" id="{54273AA2-257C-4F54-9C0E-A63F27B57686}"/>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08E9A63-30FD-4515-8A5A-825FBF25FEFA}"/>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Actual 13-feature prediction pipeline</a:t>
            </a:r>
          </a:p>
        </p:txBody>
      </p:sp>
      <p:sp>
        <p:nvSpPr>
          <p:cNvPr id="4" name="">
            <a:extLst xmlns:a="http://schemas.openxmlformats.org/drawingml/2006/main">
              <a:ext uri="{FF2B5EF4-FFF2-40B4-BE49-F238E27FC236}">
                <a16:creationId xmlns:a16="http://schemas.microsoft.com/office/drawing/2014/main" id="{E5ABA3C8-202C-4933-B5D1-A8246790A48E}"/>
              </a:ext>
            </a:extLst>
          </p:cNvPr>
          <p:cNvSpPr>
            <a:spLocks xmlns:a="http://schemas.openxmlformats.org/drawingml/2006/main" noGrp="1"/>
          </p:cNvSpPr>
          <p:nvPr/>
        </p:nvSpPr>
        <p:spPr>
          <a:xfrm xmlns:a="http://schemas.openxmlformats.org/drawingml/2006/main">
            <a:off x="714375" y="1952625"/>
            <a:ext cx="16192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Raw weather</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history</a:t>
            </a:r>
          </a:p>
        </p:txBody>
      </p:sp>
      <p:sp>
        <p:nvSpPr>
          <p:cNvPr id="5" name="">
            <a:extLst xmlns:a="http://schemas.openxmlformats.org/drawingml/2006/main">
              <a:ext uri="{FF2B5EF4-FFF2-40B4-BE49-F238E27FC236}">
                <a16:creationId xmlns:a16="http://schemas.microsoft.com/office/drawing/2014/main" id="{F88B997F-D392-4505-901E-BAFF840CAFCC}"/>
              </a:ext>
            </a:extLst>
          </p:cNvPr>
          <p:cNvSpPr>
            <a:spLocks xmlns:a="http://schemas.openxmlformats.org/drawingml/2006/main" noGrp="1"/>
          </p:cNvSpPr>
          <p:nvPr/>
        </p:nvSpPr>
        <p:spPr>
          <a:xfrm xmlns:a="http://schemas.openxmlformats.org/drawingml/2006/main">
            <a:off x="714375" y="2800350"/>
            <a:ext cx="161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PostgreSQL records</a:t>
            </a:r>
          </a:p>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from D−2 to D−8</a:t>
            </a:r>
          </a:p>
        </p:txBody>
      </p:sp>
      <p:sp>
        <p:nvSpPr>
          <p:cNvPr id="6" name="">
            <a:extLst xmlns:a="http://schemas.openxmlformats.org/drawingml/2006/main">
              <a:ext uri="{FF2B5EF4-FFF2-40B4-BE49-F238E27FC236}">
                <a16:creationId xmlns:a16="http://schemas.microsoft.com/office/drawing/2014/main" id="{16A2FCE2-8121-412B-BAC3-F9C1BFF585AA}"/>
              </a:ext>
            </a:extLst>
          </p:cNvPr>
          <p:cNvSpPr>
            <a:spLocks xmlns:a="http://schemas.openxmlformats.org/drawingml/2006/main" noGrp="1"/>
          </p:cNvSpPr>
          <p:nvPr/>
        </p:nvSpPr>
        <p:spPr>
          <a:xfrm xmlns:a="http://schemas.openxmlformats.org/drawingml/2006/main">
            <a:off x="2333625" y="2257425"/>
            <a:ext cx="638175" cy="0"/>
          </a:xfrm>
          <a:prstGeom xmlns:a="http://schemas.openxmlformats.org/drawingml/2006/main" prst="line">
            <a:avLst/>
          </a:prstGeom>
          <a:ln xmlns:a="http://schemas.openxmlformats.org/drawingml/2006/main" w="19050">
            <a:solidFill>
              <a:srgbClr val="0077B6"/>
            </a:solidFill>
          </a:ln>
        </p:spPr>
      </p:sp>
      <p:sp>
        <p:nvSpPr>
          <p:cNvPr id="7" name="">
            <a:extLst xmlns:a="http://schemas.openxmlformats.org/drawingml/2006/main">
              <a:ext uri="{FF2B5EF4-FFF2-40B4-BE49-F238E27FC236}">
                <a16:creationId xmlns:a16="http://schemas.microsoft.com/office/drawing/2014/main" id="{F303C3D7-CEEE-4119-8AD3-C311A2EB44A4}"/>
              </a:ext>
            </a:extLst>
          </p:cNvPr>
          <p:cNvSpPr>
            <a:spLocks xmlns:a="http://schemas.openxmlformats.org/drawingml/2006/main" noGrp="1"/>
          </p:cNvSpPr>
          <p:nvPr/>
        </p:nvSpPr>
        <p:spPr>
          <a:xfrm xmlns:a="http://schemas.openxmlformats.org/drawingml/2006/main">
            <a:off x="2847975" y="219075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8" name="">
            <a:extLst xmlns:a="http://schemas.openxmlformats.org/drawingml/2006/main">
              <a:ext uri="{FF2B5EF4-FFF2-40B4-BE49-F238E27FC236}">
                <a16:creationId xmlns:a16="http://schemas.microsoft.com/office/drawing/2014/main" id="{45D6ED67-43C2-44DA-B9A4-2E00FF6DB235}"/>
              </a:ext>
            </a:extLst>
          </p:cNvPr>
          <p:cNvSpPr>
            <a:spLocks xmlns:a="http://schemas.openxmlformats.org/drawingml/2006/main" noGrp="1"/>
          </p:cNvSpPr>
          <p:nvPr/>
        </p:nvSpPr>
        <p:spPr>
          <a:xfrm xmlns:a="http://schemas.openxmlformats.org/drawingml/2006/main">
            <a:off x="2971800" y="1952625"/>
            <a:ext cx="16192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Preprocessing</a:t>
            </a:r>
          </a:p>
        </p:txBody>
      </p:sp>
      <p:sp>
        <p:nvSpPr>
          <p:cNvPr id="9" name="">
            <a:extLst xmlns:a="http://schemas.openxmlformats.org/drawingml/2006/main">
              <a:ext uri="{FF2B5EF4-FFF2-40B4-BE49-F238E27FC236}">
                <a16:creationId xmlns:a16="http://schemas.microsoft.com/office/drawing/2014/main" id="{6642EFBB-399F-4743-A9C7-446594FA889E}"/>
              </a:ext>
            </a:extLst>
          </p:cNvPr>
          <p:cNvSpPr>
            <a:spLocks xmlns:a="http://schemas.openxmlformats.org/drawingml/2006/main" noGrp="1"/>
          </p:cNvSpPr>
          <p:nvPr/>
        </p:nvSpPr>
        <p:spPr>
          <a:xfrm xmlns:a="http://schemas.openxmlformats.org/drawingml/2006/main">
            <a:off x="2971800" y="2800350"/>
            <a:ext cx="161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State-date ordering</a:t>
            </a:r>
          </a:p>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Past-only records</a:t>
            </a:r>
          </a:p>
        </p:txBody>
      </p:sp>
      <p:sp>
        <p:nvSpPr>
          <p:cNvPr id="10" name="">
            <a:extLst xmlns:a="http://schemas.openxmlformats.org/drawingml/2006/main">
              <a:ext uri="{FF2B5EF4-FFF2-40B4-BE49-F238E27FC236}">
                <a16:creationId xmlns:a16="http://schemas.microsoft.com/office/drawing/2014/main" id="{39C574A8-34A1-44FB-8765-8CB764E9140A}"/>
              </a:ext>
            </a:extLst>
          </p:cNvPr>
          <p:cNvSpPr>
            <a:spLocks xmlns:a="http://schemas.openxmlformats.org/drawingml/2006/main" noGrp="1"/>
          </p:cNvSpPr>
          <p:nvPr/>
        </p:nvSpPr>
        <p:spPr>
          <a:xfrm xmlns:a="http://schemas.openxmlformats.org/drawingml/2006/main">
            <a:off x="4591050" y="2257425"/>
            <a:ext cx="638175" cy="0"/>
          </a:xfrm>
          <a:prstGeom xmlns:a="http://schemas.openxmlformats.org/drawingml/2006/main" prst="line">
            <a:avLst/>
          </a:prstGeom>
          <a:ln xmlns:a="http://schemas.openxmlformats.org/drawingml/2006/main" w="19050">
            <a:solidFill>
              <a:srgbClr val="0077B6"/>
            </a:solidFill>
          </a:ln>
        </p:spPr>
      </p:sp>
      <p:sp>
        <p:nvSpPr>
          <p:cNvPr id="11" name="">
            <a:extLst xmlns:a="http://schemas.openxmlformats.org/drawingml/2006/main">
              <a:ext uri="{FF2B5EF4-FFF2-40B4-BE49-F238E27FC236}">
                <a16:creationId xmlns:a16="http://schemas.microsoft.com/office/drawing/2014/main" id="{EFB2A8DC-1944-4160-8C80-27EE1308B18D}"/>
              </a:ext>
            </a:extLst>
          </p:cNvPr>
          <p:cNvSpPr>
            <a:spLocks xmlns:a="http://schemas.openxmlformats.org/drawingml/2006/main" noGrp="1"/>
          </p:cNvSpPr>
          <p:nvPr/>
        </p:nvSpPr>
        <p:spPr>
          <a:xfrm xmlns:a="http://schemas.openxmlformats.org/drawingml/2006/main">
            <a:off x="5105400" y="219075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2" name="">
            <a:extLst xmlns:a="http://schemas.openxmlformats.org/drawingml/2006/main">
              <a:ext uri="{FF2B5EF4-FFF2-40B4-BE49-F238E27FC236}">
                <a16:creationId xmlns:a16="http://schemas.microsoft.com/office/drawing/2014/main" id="{7DADE09B-D775-4E19-9F29-5004F6031DC2}"/>
              </a:ext>
            </a:extLst>
          </p:cNvPr>
          <p:cNvSpPr>
            <a:spLocks xmlns:a="http://schemas.openxmlformats.org/drawingml/2006/main" noGrp="1"/>
          </p:cNvSpPr>
          <p:nvPr/>
        </p:nvSpPr>
        <p:spPr>
          <a:xfrm xmlns:a="http://schemas.openxmlformats.org/drawingml/2006/main">
            <a:off x="5229225" y="1952625"/>
            <a:ext cx="16192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Feature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engineering</a:t>
            </a:r>
          </a:p>
        </p:txBody>
      </p:sp>
      <p:sp>
        <p:nvSpPr>
          <p:cNvPr id="13" name="">
            <a:extLst xmlns:a="http://schemas.openxmlformats.org/drawingml/2006/main">
              <a:ext uri="{FF2B5EF4-FFF2-40B4-BE49-F238E27FC236}">
                <a16:creationId xmlns:a16="http://schemas.microsoft.com/office/drawing/2014/main" id="{DBA96BCF-DC0A-4E47-AEAC-C107002EC65A}"/>
              </a:ext>
            </a:extLst>
          </p:cNvPr>
          <p:cNvSpPr>
            <a:spLocks xmlns:a="http://schemas.openxmlformats.org/drawingml/2006/main" noGrp="1"/>
          </p:cNvSpPr>
          <p:nvPr/>
        </p:nvSpPr>
        <p:spPr>
          <a:xfrm xmlns:a="http://schemas.openxmlformats.org/drawingml/2006/main">
            <a:off x="5229225" y="2800350"/>
            <a:ext cx="161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Lags, rolling means,</a:t>
            </a:r>
          </a:p>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month, season, state</a:t>
            </a:r>
          </a:p>
        </p:txBody>
      </p:sp>
      <p:sp>
        <p:nvSpPr>
          <p:cNvPr id="14" name="">
            <a:extLst xmlns:a="http://schemas.openxmlformats.org/drawingml/2006/main">
              <a:ext uri="{FF2B5EF4-FFF2-40B4-BE49-F238E27FC236}">
                <a16:creationId xmlns:a16="http://schemas.microsoft.com/office/drawing/2014/main" id="{F8B4291E-3BC1-4390-AEE1-EE8C3AFB500D}"/>
              </a:ext>
            </a:extLst>
          </p:cNvPr>
          <p:cNvSpPr>
            <a:spLocks xmlns:a="http://schemas.openxmlformats.org/drawingml/2006/main" noGrp="1"/>
          </p:cNvSpPr>
          <p:nvPr/>
        </p:nvSpPr>
        <p:spPr>
          <a:xfrm xmlns:a="http://schemas.openxmlformats.org/drawingml/2006/main">
            <a:off x="6848475" y="2257425"/>
            <a:ext cx="638175" cy="0"/>
          </a:xfrm>
          <a:prstGeom xmlns:a="http://schemas.openxmlformats.org/drawingml/2006/main" prst="line">
            <a:avLst/>
          </a:prstGeom>
          <a:ln xmlns:a="http://schemas.openxmlformats.org/drawingml/2006/main" w="19050">
            <a:solidFill>
              <a:srgbClr val="0077B6"/>
            </a:solidFill>
          </a:ln>
        </p:spPr>
      </p:sp>
      <p:sp>
        <p:nvSpPr>
          <p:cNvPr id="15" name="">
            <a:extLst xmlns:a="http://schemas.openxmlformats.org/drawingml/2006/main">
              <a:ext uri="{FF2B5EF4-FFF2-40B4-BE49-F238E27FC236}">
                <a16:creationId xmlns:a16="http://schemas.microsoft.com/office/drawing/2014/main" id="{61669462-AAA2-406D-A501-F362A9CDBE30}"/>
              </a:ext>
            </a:extLst>
          </p:cNvPr>
          <p:cNvSpPr>
            <a:spLocks xmlns:a="http://schemas.openxmlformats.org/drawingml/2006/main" noGrp="1"/>
          </p:cNvSpPr>
          <p:nvPr/>
        </p:nvSpPr>
        <p:spPr>
          <a:xfrm xmlns:a="http://schemas.openxmlformats.org/drawingml/2006/main">
            <a:off x="7362825" y="219075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6" name="">
            <a:extLst xmlns:a="http://schemas.openxmlformats.org/drawingml/2006/main">
              <a:ext uri="{FF2B5EF4-FFF2-40B4-BE49-F238E27FC236}">
                <a16:creationId xmlns:a16="http://schemas.microsoft.com/office/drawing/2014/main" id="{0F973DC6-282E-427F-8AAD-546234C862F3}"/>
              </a:ext>
            </a:extLst>
          </p:cNvPr>
          <p:cNvSpPr>
            <a:spLocks xmlns:a="http://schemas.openxmlformats.org/drawingml/2006/main" noGrp="1"/>
          </p:cNvSpPr>
          <p:nvPr/>
        </p:nvSpPr>
        <p:spPr>
          <a:xfrm xmlns:a="http://schemas.openxmlformats.org/drawingml/2006/main">
            <a:off x="7486650" y="1952625"/>
            <a:ext cx="1619250" cy="6096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Model input</a:t>
            </a:r>
          </a:p>
        </p:txBody>
      </p:sp>
      <p:sp>
        <p:nvSpPr>
          <p:cNvPr id="17" name="">
            <a:extLst xmlns:a="http://schemas.openxmlformats.org/drawingml/2006/main">
              <a:ext uri="{FF2B5EF4-FFF2-40B4-BE49-F238E27FC236}">
                <a16:creationId xmlns:a16="http://schemas.microsoft.com/office/drawing/2014/main" id="{030AA90F-D8B7-411E-911C-01C3ADE80D67}"/>
              </a:ext>
            </a:extLst>
          </p:cNvPr>
          <p:cNvSpPr>
            <a:spLocks xmlns:a="http://schemas.openxmlformats.org/drawingml/2006/main" noGrp="1"/>
          </p:cNvSpPr>
          <p:nvPr/>
        </p:nvSpPr>
        <p:spPr>
          <a:xfrm xmlns:a="http://schemas.openxmlformats.org/drawingml/2006/main">
            <a:off x="7486650" y="2800350"/>
            <a:ext cx="161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13 columns in exact</a:t>
            </a:r>
          </a:p>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training order</a:t>
            </a:r>
          </a:p>
        </p:txBody>
      </p:sp>
      <p:sp>
        <p:nvSpPr>
          <p:cNvPr id="18" name="">
            <a:extLst xmlns:a="http://schemas.openxmlformats.org/drawingml/2006/main">
              <a:ext uri="{FF2B5EF4-FFF2-40B4-BE49-F238E27FC236}">
                <a16:creationId xmlns:a16="http://schemas.microsoft.com/office/drawing/2014/main" id="{E8BE1B2B-8ED7-44F2-A9C7-2AC64DCBE3BB}"/>
              </a:ext>
            </a:extLst>
          </p:cNvPr>
          <p:cNvSpPr>
            <a:spLocks xmlns:a="http://schemas.openxmlformats.org/drawingml/2006/main" noGrp="1"/>
          </p:cNvSpPr>
          <p:nvPr/>
        </p:nvSpPr>
        <p:spPr>
          <a:xfrm xmlns:a="http://schemas.openxmlformats.org/drawingml/2006/main">
            <a:off x="9105900" y="2257425"/>
            <a:ext cx="638175" cy="0"/>
          </a:xfrm>
          <a:prstGeom xmlns:a="http://schemas.openxmlformats.org/drawingml/2006/main" prst="line">
            <a:avLst/>
          </a:prstGeom>
          <a:ln xmlns:a="http://schemas.openxmlformats.org/drawingml/2006/main" w="19050">
            <a:solidFill>
              <a:srgbClr val="0077B6"/>
            </a:solidFill>
          </a:ln>
        </p:spPr>
      </p:sp>
      <p:sp>
        <p:nvSpPr>
          <p:cNvPr id="19" name="">
            <a:extLst xmlns:a="http://schemas.openxmlformats.org/drawingml/2006/main">
              <a:ext uri="{FF2B5EF4-FFF2-40B4-BE49-F238E27FC236}">
                <a16:creationId xmlns:a16="http://schemas.microsoft.com/office/drawing/2014/main" id="{E1C66EB0-D33A-4343-9FA4-F3EEA7B72516}"/>
              </a:ext>
            </a:extLst>
          </p:cNvPr>
          <p:cNvSpPr>
            <a:spLocks xmlns:a="http://schemas.openxmlformats.org/drawingml/2006/main" noGrp="1"/>
          </p:cNvSpPr>
          <p:nvPr/>
        </p:nvSpPr>
        <p:spPr>
          <a:xfrm xmlns:a="http://schemas.openxmlformats.org/drawingml/2006/main">
            <a:off x="9620250" y="2190750"/>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20" name="">
            <a:extLst xmlns:a="http://schemas.openxmlformats.org/drawingml/2006/main">
              <a:ext uri="{FF2B5EF4-FFF2-40B4-BE49-F238E27FC236}">
                <a16:creationId xmlns:a16="http://schemas.microsoft.com/office/drawing/2014/main" id="{8B114951-5F1B-44C5-B8FA-510F1D2C8DC5}"/>
              </a:ext>
            </a:extLst>
          </p:cNvPr>
          <p:cNvSpPr>
            <a:spLocks xmlns:a="http://schemas.openxmlformats.org/drawingml/2006/main" noGrp="1"/>
          </p:cNvSpPr>
          <p:nvPr/>
        </p:nvSpPr>
        <p:spPr>
          <a:xfrm xmlns:a="http://schemas.openxmlformats.org/drawingml/2006/main">
            <a:off x="9744075" y="1952625"/>
            <a:ext cx="1619250" cy="609600"/>
          </a:xfrm>
          <a:prstGeom xmlns:a="http://schemas.openxmlformats.org/drawingml/2006/main" prst="roundRect">
            <a:avLst>
              <a:gd name="adj" fmla="val 12500"/>
            </a:avLst>
          </a:prstGeom>
          <a:solidFill xmlns:a="http://schemas.openxmlformats.org/drawingml/2006/main">
            <a:srgbClr val="0B2545"/>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FFFFFF"/>
                </a:solidFill>
                <a:latin typeface="Arial"/>
                <a:ea typeface="Arial"/>
                <a:cs typeface="Arial"/>
              </a:defRPr>
            </a:pPr>
            <a:r>
              <a:rPr sz="1125" b="1">
                <a:solidFill>
                  <a:srgbClr val="FFFFFF"/>
                </a:solidFill>
                <a:latin typeface="Arial"/>
                <a:ea typeface="Arial"/>
                <a:cs typeface="Arial"/>
              </a:rPr>
              <a:t>ML prediction</a:t>
            </a:r>
          </a:p>
        </p:txBody>
      </p:sp>
      <p:sp>
        <p:nvSpPr>
          <p:cNvPr id="21" name="">
            <a:extLst xmlns:a="http://schemas.openxmlformats.org/drawingml/2006/main">
              <a:ext uri="{FF2B5EF4-FFF2-40B4-BE49-F238E27FC236}">
                <a16:creationId xmlns:a16="http://schemas.microsoft.com/office/drawing/2014/main" id="{20D1A1AA-09B0-4D70-A316-21914E420393}"/>
              </a:ext>
            </a:extLst>
          </p:cNvPr>
          <p:cNvSpPr>
            <a:spLocks xmlns:a="http://schemas.openxmlformats.org/drawingml/2006/main" noGrp="1"/>
          </p:cNvSpPr>
          <p:nvPr/>
        </p:nvSpPr>
        <p:spPr>
          <a:xfrm xmlns:a="http://schemas.openxmlformats.org/drawingml/2006/main">
            <a:off x="9744075" y="2800350"/>
            <a:ext cx="1619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Gradient Boosting</a:t>
            </a:r>
          </a:p>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next-day Temp_Avg</a:t>
            </a:r>
          </a:p>
        </p:txBody>
      </p:sp>
      <p:sp>
        <p:nvSpPr>
          <p:cNvPr id="22" name="">
            <a:extLst xmlns:a="http://schemas.openxmlformats.org/drawingml/2006/main">
              <a:ext uri="{FF2B5EF4-FFF2-40B4-BE49-F238E27FC236}">
                <a16:creationId xmlns:a16="http://schemas.microsoft.com/office/drawing/2014/main" id="{0E2CEAD3-6796-4B06-9723-8978CDE116F4}"/>
              </a:ext>
            </a:extLst>
          </p:cNvPr>
          <p:cNvSpPr>
            <a:spLocks xmlns:a="http://schemas.openxmlformats.org/drawingml/2006/main" noGrp="1"/>
          </p:cNvSpPr>
          <p:nvPr/>
        </p:nvSpPr>
        <p:spPr>
          <a:xfrm xmlns:a="http://schemas.openxmlformats.org/drawingml/2006/main">
            <a:off x="857250" y="4095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077B6"/>
                </a:solidFill>
                <a:latin typeface="Arial"/>
                <a:ea typeface="Arial"/>
                <a:cs typeface="Arial"/>
              </a:defRPr>
            </a:pPr>
            <a:r>
              <a:rPr sz="1275" b="1">
                <a:solidFill>
                  <a:srgbClr val="0077B6"/>
                </a:solidFill>
                <a:latin typeface="Arial"/>
                <a:ea typeface="Arial"/>
                <a:cs typeface="Arial"/>
              </a:rPr>
              <a:t>Exact numeric inputs</a:t>
            </a:r>
          </a:p>
        </p:txBody>
      </p:sp>
      <p:sp>
        <p:nvSpPr>
          <p:cNvPr id="23" name="">
            <a:extLst xmlns:a="http://schemas.openxmlformats.org/drawingml/2006/main">
              <a:ext uri="{FF2B5EF4-FFF2-40B4-BE49-F238E27FC236}">
                <a16:creationId xmlns:a16="http://schemas.microsoft.com/office/drawing/2014/main" id="{4D3E2BCD-D8FF-42A1-B87C-87889A0CF867}"/>
              </a:ext>
            </a:extLst>
          </p:cNvPr>
          <p:cNvSpPr>
            <a:spLocks xmlns:a="http://schemas.openxmlformats.org/drawingml/2006/main" noGrp="1"/>
          </p:cNvSpPr>
          <p:nvPr/>
        </p:nvSpPr>
        <p:spPr>
          <a:xfrm xmlns:a="http://schemas.openxmlformats.org/drawingml/2006/main">
            <a:off x="857250" y="44767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lag1_temp_avg, lag2_temp_avg, lag3_temp_avg, lag1_temp_max, lag1_temp_min, lag1_humidity, lag1_rainfall, roll3_temp_avg, roll7_temp_avg, month_sin, month_cos</a:t>
            </a:r>
          </a:p>
        </p:txBody>
      </p:sp>
      <p:sp>
        <p:nvSpPr>
          <p:cNvPr id="24" name="">
            <a:extLst xmlns:a="http://schemas.openxmlformats.org/drawingml/2006/main">
              <a:ext uri="{FF2B5EF4-FFF2-40B4-BE49-F238E27FC236}">
                <a16:creationId xmlns:a16="http://schemas.microsoft.com/office/drawing/2014/main" id="{FE299112-43E6-4F51-9BAE-8B1826E9E35D}"/>
              </a:ext>
            </a:extLst>
          </p:cNvPr>
          <p:cNvSpPr>
            <a:spLocks xmlns:a="http://schemas.openxmlformats.org/drawingml/2006/main" noGrp="1"/>
          </p:cNvSpPr>
          <p:nvPr/>
        </p:nvSpPr>
        <p:spPr>
          <a:xfrm xmlns:a="http://schemas.openxmlformats.org/drawingml/2006/main">
            <a:off x="857250" y="5238750"/>
            <a:ext cx="10191750" cy="342900"/>
          </a:xfrm>
          <a:prstGeom xmlns:a="http://schemas.openxmlformats.org/drawingml/2006/main" prst="roundRect">
            <a:avLst>
              <a:gd name="adj" fmla="val 2222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Categorical inputs: Season and State. Numeric values are standardised; categories are one-hot encoded within the saved pipeline.</a:t>
            </a:r>
          </a:p>
        </p:txBody>
      </p:sp>
      <p:sp>
        <p:nvSpPr>
          <p:cNvPr id="25" name="">
            <a:extLst xmlns:a="http://schemas.openxmlformats.org/drawingml/2006/main">
              <a:ext uri="{FF2B5EF4-FFF2-40B4-BE49-F238E27FC236}">
                <a16:creationId xmlns:a16="http://schemas.microsoft.com/office/drawing/2014/main" id="{07A79F1E-5F43-4E55-8019-C5A90F21B206}"/>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26" name="">
            <a:extLst xmlns:a="http://schemas.openxmlformats.org/drawingml/2006/main">
              <a:ext uri="{FF2B5EF4-FFF2-40B4-BE49-F238E27FC236}">
                <a16:creationId xmlns:a16="http://schemas.microsoft.com/office/drawing/2014/main" id="{A914564B-D269-4DA5-AAC6-87E7FD0CFC25}"/>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27" name="">
            <a:extLst xmlns:a="http://schemas.openxmlformats.org/drawingml/2006/main">
              <a:ext uri="{FF2B5EF4-FFF2-40B4-BE49-F238E27FC236}">
                <a16:creationId xmlns:a16="http://schemas.microsoft.com/office/drawing/2014/main" id="{C2798A2C-5835-4464-8AFA-7BDEABCEE5EE}"/>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10</a:t>
            </a:r>
          </a:p>
        </p:txBody>
      </p:sp>
    </p:spTree>
    <p:extLst>
      <p:ext uri="{BB962C8B-B14F-4D97-AF65-F5344CB8AC3E}">
        <p14:creationId xmlns:p14="http://schemas.microsoft.com/office/powerpoint/2010/main" val="1186748209"/>
      </p:ext>
    </p:extLst>
  </p:cSld>
</p:sld>
</file>

<file path=ppt/slides/slide11.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C95A09-A108-4A8B-A296-AAD95F1BE7C7}"/>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Backend and API</a:t>
            </a:r>
          </a:p>
        </p:txBody>
      </p:sp>
      <p:sp>
        <p:nvSpPr>
          <p:cNvPr id="2" name="">
            <a:extLst xmlns:a="http://schemas.openxmlformats.org/drawingml/2006/main">
              <a:ext uri="{FF2B5EF4-FFF2-40B4-BE49-F238E27FC236}">
                <a16:creationId xmlns:a16="http://schemas.microsoft.com/office/drawing/2014/main" id="{FCC78327-C509-47F8-8129-2132501F5824}"/>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76AA678-F7FF-4672-8F3E-240AD159B22A}"/>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FastAPI implementation, request validation and responses</a:t>
            </a:r>
          </a:p>
        </p:txBody>
      </p:sp>
      <p:graphicFrame>
        <p:nvGraphicFramePr>
          <p:cNvPr id="13" name=""/>
          <p:cNvGraphicFramePr/>
          <p:nvPr/>
        </p:nvGraphicFramePr>
        <p:xfrm>
          <a:off xmlns:a="http://schemas.openxmlformats.org/drawingml/2006/main" x="600075" y="1552575"/>
          <a:ext xmlns:a="http://schemas.openxmlformats.org/drawingml/2006/main" cx="10953750" cy="3143250"/>
        </p:xfrm>
        <a:graphic xmlns:a="http://schemas.openxmlformats.org/drawingml/2006/main">
          <a:graphicData uri="http://schemas.openxmlformats.org/drawingml/2006/table">
            <a:tbl>
              <a:tblPr firstRow="1" bandRow="1"/>
              <a:tblGrid>
                <a:gridCol w="1047750"/>
                <a:gridCol w="3571875"/>
                <a:gridCol w="6334125"/>
              </a:tblGrid>
              <a:tr h="392906">
                <a:tc>
                  <a:txBody>
                    <a:bodyPr>
                      <a:normAutofit/>
                    </a:bodyPr>
                    <a:lstStyle/>
                    <a:p>
                      <a:r>
                        <a:rPr sz="1050" b="1">
                          <a:solidFill>
                            <a:srgbClr val="FFFFFF"/>
                          </a:solidFill>
                          <a:latin typeface="Arial"/>
                          <a:ea typeface="Arial"/>
                          <a:cs typeface="Arial"/>
                        </a:rPr>
                        <a:t>Method</a:t>
                      </a:r>
                    </a:p>
                  </a:txBody>
                  <a:tcPr marL="91440" marR="91440" marT="45720" marB="45720">
                    <a:solidFill>
                      <a:srgbClr val="0B2545"/>
                    </a:solidFill>
                  </a:tcPr>
                </a:tc>
                <a:tc>
                  <a:txBody>
                    <a:bodyPr>
                      <a:normAutofit/>
                    </a:bodyPr>
                    <a:lstStyle/>
                    <a:p>
                      <a:r>
                        <a:rPr sz="1050" b="1">
                          <a:solidFill>
                            <a:srgbClr val="FFFFFF"/>
                          </a:solidFill>
                          <a:latin typeface="Arial"/>
                          <a:ea typeface="Arial"/>
                          <a:cs typeface="Arial"/>
                        </a:rPr>
                        <a:t>Endpoint</a:t>
                      </a:r>
                    </a:p>
                  </a:txBody>
                  <a:tcPr marL="91440" marR="91440" marT="45720" marB="45720">
                    <a:solidFill>
                      <a:srgbClr val="0B2545"/>
                    </a:solidFill>
                  </a:tcPr>
                </a:tc>
                <a:tc>
                  <a:txBody>
                    <a:bodyPr>
                      <a:normAutofit/>
                    </a:bodyPr>
                    <a:lstStyle/>
                    <a:p>
                      <a:r>
                        <a:rPr sz="1050" b="1">
                          <a:solidFill>
                            <a:srgbClr val="FFFFFF"/>
                          </a:solidFill>
                          <a:latin typeface="Arial"/>
                          <a:ea typeface="Arial"/>
                          <a:cs typeface="Arial"/>
                        </a:rPr>
                        <a:t>Purpose</a:t>
                      </a:r>
                    </a:p>
                  </a:txBody>
                  <a:tcPr marL="91440" marR="91440" marT="45720" marB="45720">
                    <a:solidFill>
                      <a:srgbClr val="0B2545"/>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/health</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Application, PostgreSQL and model status</a:t>
                      </a:r>
                    </a:p>
                  </a:txBody>
                  <a:tcPr marL="91440" marR="91440" marT="45720" marB="45720">
                    <a:solidFill>
                      <a:srgbClr val="FFFFFF"/>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/states</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Distinct states available in database</a:t>
                      </a:r>
                    </a:p>
                  </a:txBody>
                  <a:tcPr marL="91440" marR="91440" marT="45720" marB="45720">
                    <a:solidFill>
                      <a:srgbClr val="EAF6FC"/>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/weather/{state}?limit=&amp;offset=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Paginated weather history</a:t>
                      </a:r>
                    </a:p>
                  </a:txBody>
                  <a:tcPr marL="91440" marR="91440" marT="45720" marB="45720">
                    <a:solidFill>
                      <a:srgbClr val="FFFFFF"/>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/weather/{state}/recent?days=</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Recent records for chart context</a:t>
                      </a:r>
                    </a:p>
                  </a:txBody>
                  <a:tcPr marL="91440" marR="91440" marT="45720" marB="45720">
                    <a:solidFill>
                      <a:srgbClr val="EAF6FC"/>
                    </a:solidFill>
                  </a:tcPr>
                </a:tc>
              </a:tr>
              <a:tr h="392906">
                <a:tc>
                  <a:txBody>
                    <a:bodyPr>
                      <a:normAutofit/>
                    </a:bodyPr>
                    <a:lstStyle/>
                    <a:p>
                      <a:r>
                        <a:rPr sz="1050">
                          <a:solidFill>
                            <a:srgbClr val="17324D"/>
                          </a:solidFill>
                          <a:latin typeface="Arial"/>
                          <a:ea typeface="Arial"/>
                          <a:cs typeface="Arial"/>
                        </a:rPr>
                        <a:t>POST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/predict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Validate, build features, predict and store audit record</a:t>
                      </a:r>
                    </a:p>
                  </a:txBody>
                  <a:tcPr marL="91440" marR="91440" marT="45720" marB="45720">
                    <a:solidFill>
                      <a:srgbClr val="FFFFFF"/>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/predictions?limit=&amp;offset=</a:t>
                      </a:r>
                    </a:p>
                  </a:txBody>
                  <a:tcPr marL="91440" marR="91440" marT="45720" marB="45720">
                    <a:solidFill>
                      <a:srgbClr val="EAF6FC"/>
                    </a:solidFill>
                  </a:tcPr>
                </a:tc>
                <a:tc>
                  <a:txBody>
                    <a:bodyPr>
                      <a:normAutofit/>
                    </a:bodyPr>
                    <a:lstStyle/>
                    <a:p>
                      <a:r>
                        <a:rPr sz="1050">
                          <a:solidFill>
                            <a:srgbClr val="17324D"/>
                          </a:solidFill>
                          <a:latin typeface="Arial"/>
                          <a:ea typeface="Arial"/>
                          <a:cs typeface="Arial"/>
                        </a:rPr>
                        <a:t>Stored prediction history</a:t>
                      </a:r>
                    </a:p>
                  </a:txBody>
                  <a:tcPr marL="91440" marR="91440" marT="45720" marB="45720">
                    <a:solidFill>
                      <a:srgbClr val="EAF6FC"/>
                    </a:solidFill>
                  </a:tcPr>
                </a:tc>
              </a:tr>
              <a:tr h="392906">
                <a:tc>
                  <a:txBody>
                    <a:bodyPr>
                      <a:normAutofit/>
                    </a:bodyPr>
                    <a:lstStyle/>
                    <a:p>
                      <a:r>
                        <a:rPr sz="1050">
                          <a:solidFill>
                            <a:srgbClr val="17324D"/>
                          </a:solidFill>
                          <a:latin typeface="Arial"/>
                          <a:ea typeface="Arial"/>
                          <a:cs typeface="Arial"/>
                        </a:rPr>
                        <a:t>GET</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/model-info</a:t>
                      </a:r>
                    </a:p>
                  </a:txBody>
                  <a:tcPr marL="91440" marR="91440" marT="45720" marB="45720">
                    <a:solidFill>
                      <a:srgbClr val="FFFFFF"/>
                    </a:solidFill>
                  </a:tcPr>
                </a:tc>
                <a:tc>
                  <a:txBody>
                    <a:bodyPr>
                      <a:normAutofit/>
                    </a:bodyPr>
                    <a:lstStyle/>
                    <a:p>
                      <a:r>
                        <a:rPr sz="1050">
                          <a:solidFill>
                            <a:srgbClr val="17324D"/>
                          </a:solidFill>
                          <a:latin typeface="Arial"/>
                          <a:ea typeface="Arial"/>
                          <a:cs typeface="Arial"/>
                        </a:rPr>
                        <a:t>Saved model metadata and metrics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317D199-B05E-49F2-83B9-FA147833CA66}"/>
              </a:ext>
            </a:extLst>
          </p:cNvPr>
          <p:cNvSpPr>
            <a:spLocks xmlns:a="http://schemas.openxmlformats.org/drawingml/2006/main" noGrp="1"/>
          </p:cNvSpPr>
          <p:nvPr/>
        </p:nvSpPr>
        <p:spPr>
          <a:xfrm xmlns:a="http://schemas.openxmlformats.org/drawingml/2006/main">
            <a:off x="762000" y="50673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0077B6"/>
                </a:solidFill>
                <a:latin typeface="Arial"/>
                <a:ea typeface="Arial"/>
                <a:cs typeface="Arial"/>
              </a:defRPr>
            </a:pPr>
            <a:r>
              <a:rPr sz="1350" b="1">
                <a:solidFill>
                  <a:srgbClr val="0077B6"/>
                </a:solidFill>
                <a:latin typeface="Arial"/>
                <a:ea typeface="Arial"/>
                <a:cs typeface="Arial"/>
              </a:rPr>
              <a:t>POST /predict flow</a:t>
            </a:r>
          </a:p>
        </p:txBody>
      </p:sp>
      <p:sp>
        <p:nvSpPr>
          <p:cNvPr id="6" name="">
            <a:extLst xmlns:a="http://schemas.openxmlformats.org/drawingml/2006/main">
              <a:ext uri="{FF2B5EF4-FFF2-40B4-BE49-F238E27FC236}">
                <a16:creationId xmlns:a16="http://schemas.microsoft.com/office/drawing/2014/main" id="{9D3616AD-C57E-4E88-ABA5-E1B09A5397F2}"/>
              </a:ext>
            </a:extLst>
          </p:cNvPr>
          <p:cNvSpPr>
            <a:spLocks xmlns:a="http://schemas.openxmlformats.org/drawingml/2006/main" noGrp="1"/>
          </p:cNvSpPr>
          <p:nvPr/>
        </p:nvSpPr>
        <p:spPr>
          <a:xfrm xmlns:a="http://schemas.openxmlformats.org/drawingml/2006/main">
            <a:off x="762000" y="5467350"/>
            <a:ext cx="105727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Pydantic request validation  →  state lookup  →  seven past records  →  staleness check  →  feature builder  →  joblib pipeline  →  predictions table  →  JSON</a:t>
            </a:r>
          </a:p>
        </p:txBody>
      </p:sp>
      <p:sp>
        <p:nvSpPr>
          <p:cNvPr id="7" name="">
            <a:extLst xmlns:a="http://schemas.openxmlformats.org/drawingml/2006/main">
              <a:ext uri="{FF2B5EF4-FFF2-40B4-BE49-F238E27FC236}">
                <a16:creationId xmlns:a16="http://schemas.microsoft.com/office/drawing/2014/main" id="{08F65B81-9C00-499B-A504-7DA2241A218B}"/>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8" name="">
            <a:extLst xmlns:a="http://schemas.openxmlformats.org/drawingml/2006/main">
              <a:ext uri="{FF2B5EF4-FFF2-40B4-BE49-F238E27FC236}">
                <a16:creationId xmlns:a16="http://schemas.microsoft.com/office/drawing/2014/main" id="{540876B5-228B-46DE-89D9-A21E8AE57A93}"/>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9" name="">
            <a:extLst xmlns:a="http://schemas.openxmlformats.org/drawingml/2006/main">
              <a:ext uri="{FF2B5EF4-FFF2-40B4-BE49-F238E27FC236}">
                <a16:creationId xmlns:a16="http://schemas.microsoft.com/office/drawing/2014/main" id="{6DBB981A-B0E5-4C9C-AD4B-AF2C24EFCE28}"/>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11</a:t>
            </a:r>
          </a:p>
        </p:txBody>
      </p:sp>
    </p:spTree>
    <p:extLst>
      <p:ext uri="{BB962C8B-B14F-4D97-AF65-F5344CB8AC3E}">
        <p14:creationId xmlns:p14="http://schemas.microsoft.com/office/powerpoint/2010/main" val="951686107"/>
      </p:ext>
    </p:extLst>
  </p:cSld>
</p:sld>
</file>

<file path=ppt/slides/slide12.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408B7FF-9230-47AF-8909-BF4C99DEDBBE}"/>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Frontend</a:t>
            </a:r>
          </a:p>
        </p:txBody>
      </p:sp>
      <p:sp>
        <p:nvSpPr>
          <p:cNvPr id="2" name="">
            <a:extLst xmlns:a="http://schemas.openxmlformats.org/drawingml/2006/main">
              <a:ext uri="{FF2B5EF4-FFF2-40B4-BE49-F238E27FC236}">
                <a16:creationId xmlns:a16="http://schemas.microsoft.com/office/drawing/2014/main" id="{DD9BA081-4BF4-4EC9-A181-ECB55DBA0224}"/>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1B42702-703F-444F-A296-5798FE685CDF}"/>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React single-page application with four tabbed pages</a:t>
            </a:r>
          </a:p>
        </p:txBody>
      </p:sp>
      <p:sp>
        <p:nvSpPr>
          <p:cNvPr id="4" name="">
            <a:extLst xmlns:a="http://schemas.openxmlformats.org/drawingml/2006/main">
              <a:ext uri="{FF2B5EF4-FFF2-40B4-BE49-F238E27FC236}">
                <a16:creationId xmlns:a16="http://schemas.microsoft.com/office/drawing/2014/main" id="{703FE5E5-59C5-4DBF-854E-298AD4082B2F}"/>
              </a:ext>
            </a:extLst>
          </p:cNvPr>
          <p:cNvSpPr>
            <a:spLocks xmlns:a="http://schemas.openxmlformats.org/drawingml/2006/main" noGrp="1"/>
          </p:cNvSpPr>
          <p:nvPr/>
        </p:nvSpPr>
        <p:spPr>
          <a:xfrm xmlns:a="http://schemas.openxmlformats.org/drawingml/2006/main">
            <a:off x="781050" y="1666875"/>
            <a:ext cx="4524375" cy="428625"/>
          </a:xfrm>
          <a:prstGeom xmlns:a="http://schemas.openxmlformats.org/drawingml/2006/main" prst="roundRect">
            <a:avLst>
              <a:gd name="adj" fmla="val 17778"/>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Forecast</a:t>
            </a:r>
          </a:p>
        </p:txBody>
      </p:sp>
      <p:sp>
        <p:nvSpPr>
          <p:cNvPr id="5" name="">
            <a:extLst xmlns:a="http://schemas.openxmlformats.org/drawingml/2006/main">
              <a:ext uri="{FF2B5EF4-FFF2-40B4-BE49-F238E27FC236}">
                <a16:creationId xmlns:a16="http://schemas.microsoft.com/office/drawing/2014/main" id="{369DE396-9AD2-43A9-AD3F-45280AB3236F}"/>
              </a:ext>
            </a:extLst>
          </p:cNvPr>
          <p:cNvSpPr>
            <a:spLocks xmlns:a="http://schemas.openxmlformats.org/drawingml/2006/main" noGrp="1"/>
          </p:cNvSpPr>
          <p:nvPr/>
        </p:nvSpPr>
        <p:spPr>
          <a:xfrm xmlns:a="http://schemas.openxmlformats.org/drawingml/2006/main">
            <a:off x="1028700" y="230505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State and date form</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Prediction result</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30-day context chart</a:t>
            </a:r>
          </a:p>
        </p:txBody>
      </p:sp>
      <p:sp>
        <p:nvSpPr>
          <p:cNvPr id="6" name="">
            <a:extLst xmlns:a="http://schemas.openxmlformats.org/drawingml/2006/main">
              <a:ext uri="{FF2B5EF4-FFF2-40B4-BE49-F238E27FC236}">
                <a16:creationId xmlns:a16="http://schemas.microsoft.com/office/drawing/2014/main" id="{FB077721-D786-45A2-BF15-D6417BDBE632}"/>
              </a:ext>
            </a:extLst>
          </p:cNvPr>
          <p:cNvSpPr>
            <a:spLocks xmlns:a="http://schemas.openxmlformats.org/drawingml/2006/main" noGrp="1"/>
          </p:cNvSpPr>
          <p:nvPr/>
        </p:nvSpPr>
        <p:spPr>
          <a:xfrm xmlns:a="http://schemas.openxmlformats.org/drawingml/2006/main">
            <a:off x="6162675" y="1666875"/>
            <a:ext cx="4524375" cy="428625"/>
          </a:xfrm>
          <a:prstGeom xmlns:a="http://schemas.openxmlformats.org/drawingml/2006/main" prst="roundRect">
            <a:avLst>
              <a:gd name="adj" fmla="val 17778"/>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Weather History</a:t>
            </a:r>
          </a:p>
        </p:txBody>
      </p:sp>
      <p:sp>
        <p:nvSpPr>
          <p:cNvPr id="7" name="">
            <a:extLst xmlns:a="http://schemas.openxmlformats.org/drawingml/2006/main">
              <a:ext uri="{FF2B5EF4-FFF2-40B4-BE49-F238E27FC236}">
                <a16:creationId xmlns:a16="http://schemas.microsoft.com/office/drawing/2014/main" id="{B7C2EB4D-EF21-47AE-91A1-B1BCDB63CE34}"/>
              </a:ext>
            </a:extLst>
          </p:cNvPr>
          <p:cNvSpPr>
            <a:spLocks xmlns:a="http://schemas.openxmlformats.org/drawingml/2006/main" noGrp="1"/>
          </p:cNvSpPr>
          <p:nvPr/>
        </p:nvSpPr>
        <p:spPr>
          <a:xfrm xmlns:a="http://schemas.openxmlformats.org/drawingml/2006/main">
            <a:off x="6410325" y="230505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State selector</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Temperature chart and table</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Load older data</a:t>
            </a:r>
          </a:p>
        </p:txBody>
      </p:sp>
      <p:sp>
        <p:nvSpPr>
          <p:cNvPr id="8" name="">
            <a:extLst xmlns:a="http://schemas.openxmlformats.org/drawingml/2006/main">
              <a:ext uri="{FF2B5EF4-FFF2-40B4-BE49-F238E27FC236}">
                <a16:creationId xmlns:a16="http://schemas.microsoft.com/office/drawing/2014/main" id="{B194BCD5-E0CB-4145-A6BB-CFDBBD44D719}"/>
              </a:ext>
            </a:extLst>
          </p:cNvPr>
          <p:cNvSpPr>
            <a:spLocks xmlns:a="http://schemas.openxmlformats.org/drawingml/2006/main" noGrp="1"/>
          </p:cNvSpPr>
          <p:nvPr/>
        </p:nvSpPr>
        <p:spPr>
          <a:xfrm xmlns:a="http://schemas.openxmlformats.org/drawingml/2006/main">
            <a:off x="781050" y="3476625"/>
            <a:ext cx="4524375" cy="428625"/>
          </a:xfrm>
          <a:prstGeom xmlns:a="http://schemas.openxmlformats.org/drawingml/2006/main" prst="roundRect">
            <a:avLst>
              <a:gd name="adj" fmla="val 17778"/>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Model Performance</a:t>
            </a:r>
          </a:p>
        </p:txBody>
      </p:sp>
      <p:sp>
        <p:nvSpPr>
          <p:cNvPr id="9" name="">
            <a:extLst xmlns:a="http://schemas.openxmlformats.org/drawingml/2006/main">
              <a:ext uri="{FF2B5EF4-FFF2-40B4-BE49-F238E27FC236}">
                <a16:creationId xmlns:a16="http://schemas.microsoft.com/office/drawing/2014/main" id="{95CE5974-1F3E-48CD-A5A1-3A3C7786378B}"/>
              </a:ext>
            </a:extLst>
          </p:cNvPr>
          <p:cNvSpPr>
            <a:spLocks xmlns:a="http://schemas.openxmlformats.org/drawingml/2006/main" noGrp="1"/>
          </p:cNvSpPr>
          <p:nvPr/>
        </p:nvSpPr>
        <p:spPr>
          <a:xfrm xmlns:a="http://schemas.openxmlformats.org/drawingml/2006/main">
            <a:off x="1028700" y="41148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Selected model and periods</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Candidate metrics</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Grouped feature list</a:t>
            </a:r>
          </a:p>
        </p:txBody>
      </p:sp>
      <p:sp>
        <p:nvSpPr>
          <p:cNvPr id="10" name="">
            <a:extLst xmlns:a="http://schemas.openxmlformats.org/drawingml/2006/main">
              <a:ext uri="{FF2B5EF4-FFF2-40B4-BE49-F238E27FC236}">
                <a16:creationId xmlns:a16="http://schemas.microsoft.com/office/drawing/2014/main" id="{CB5514B0-FD02-4F61-8DE6-0F20A7CDBCEC}"/>
              </a:ext>
            </a:extLst>
          </p:cNvPr>
          <p:cNvSpPr>
            <a:spLocks xmlns:a="http://schemas.openxmlformats.org/drawingml/2006/main" noGrp="1"/>
          </p:cNvSpPr>
          <p:nvPr/>
        </p:nvSpPr>
        <p:spPr>
          <a:xfrm xmlns:a="http://schemas.openxmlformats.org/drawingml/2006/main">
            <a:off x="6162675" y="3476625"/>
            <a:ext cx="4524375" cy="428625"/>
          </a:xfrm>
          <a:prstGeom xmlns:a="http://schemas.openxmlformats.org/drawingml/2006/main" prst="roundRect">
            <a:avLst>
              <a:gd name="adj" fmla="val 17778"/>
            </a:avLst>
          </a:prstGeom>
          <a:solidFill xmlns:a="http://schemas.openxmlformats.org/drawingml/2006/main">
            <a:srgbClr val="0077B6"/>
          </a:solidFill>
          <a:ln xmlns:a="http://schemas.openxmlformats.org/drawingml/2006/main" w="9525">
            <a:solidFill>
              <a:srgbClr val="0077B6"/>
            </a:solidFill>
          </a:ln>
        </p:spPr>
        <p:txBody>
          <a:bodyPr xmlns:a="http://schemas.openxmlformats.org/drawingml/2006/main" anchor="ctr">
            <a:normAutofit fontScale="100000"/>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Prediction History</a:t>
            </a:r>
          </a:p>
        </p:txBody>
      </p:sp>
      <p:sp>
        <p:nvSpPr>
          <p:cNvPr id="11" name="">
            <a:extLst xmlns:a="http://schemas.openxmlformats.org/drawingml/2006/main">
              <a:ext uri="{FF2B5EF4-FFF2-40B4-BE49-F238E27FC236}">
                <a16:creationId xmlns:a16="http://schemas.microsoft.com/office/drawing/2014/main" id="{5632D6A8-5601-47E9-9855-B3CDF3188C9A}"/>
              </a:ext>
            </a:extLst>
          </p:cNvPr>
          <p:cNvSpPr>
            <a:spLocks xmlns:a="http://schemas.openxmlformats.org/drawingml/2006/main" noGrp="1"/>
          </p:cNvSpPr>
          <p:nvPr/>
        </p:nvSpPr>
        <p:spPr>
          <a:xfrm xmlns:a="http://schemas.openxmlformats.org/drawingml/2006/main">
            <a:off x="6410325" y="411480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Stored forecast table</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Page size and state filter</a:t>
            </a:r>
          </a:p>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Load more</a:t>
            </a:r>
          </a:p>
        </p:txBody>
      </p:sp>
      <p:sp>
        <p:nvSpPr>
          <p:cNvPr id="12" name="">
            <a:extLst xmlns:a="http://schemas.openxmlformats.org/drawingml/2006/main">
              <a:ext uri="{FF2B5EF4-FFF2-40B4-BE49-F238E27FC236}">
                <a16:creationId xmlns:a16="http://schemas.microsoft.com/office/drawing/2014/main" id="{A059C08D-403F-4B92-8548-363F0AEE122B}"/>
              </a:ext>
            </a:extLst>
          </p:cNvPr>
          <p:cNvSpPr>
            <a:spLocks xmlns:a="http://schemas.openxmlformats.org/drawingml/2006/main" noGrp="1"/>
          </p:cNvSpPr>
          <p:nvPr/>
        </p:nvSpPr>
        <p:spPr>
          <a:xfrm xmlns:a="http://schemas.openxmlformats.org/drawingml/2006/main">
            <a:off x="952500" y="5524500"/>
            <a:ext cx="10287000" cy="342900"/>
          </a:xfrm>
          <a:prstGeom xmlns:a="http://schemas.openxmlformats.org/drawingml/2006/main" prst="roundRect">
            <a:avLst>
              <a:gd name="adj" fmla="val 2222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00" b="0">
                <a:solidFill>
                  <a:srgbClr val="17324D"/>
                </a:solidFill>
                <a:latin typeface="Arial"/>
                <a:ea typeface="Arial"/>
                <a:cs typeface="Arial"/>
              </a:defRPr>
            </a:pPr>
            <a:r>
              <a:rPr sz="1200" b="0">
                <a:solidFill>
                  <a:srgbClr val="17324D"/>
                </a:solidFill>
                <a:latin typeface="Arial"/>
                <a:ea typeface="Arial"/>
                <a:cs typeface="Arial"/>
              </a:rPr>
              <a:t>Shared behaviour: typed central API service, loading and error views, and a /health indicator that polls every 30 seconds.</a:t>
            </a:r>
          </a:p>
        </p:txBody>
      </p:sp>
      <p:sp>
        <p:nvSpPr>
          <p:cNvPr id="13" name="">
            <a:extLst xmlns:a="http://schemas.openxmlformats.org/drawingml/2006/main">
              <a:ext uri="{FF2B5EF4-FFF2-40B4-BE49-F238E27FC236}">
                <a16:creationId xmlns:a16="http://schemas.microsoft.com/office/drawing/2014/main" id="{8CA8A148-4426-4327-88EB-EB08C498C53F}"/>
              </a:ext>
            </a:extLst>
          </p:cNvPr>
          <p:cNvSpPr>
            <a:spLocks xmlns:a="http://schemas.openxmlformats.org/drawingml/2006/main" noGrp="1"/>
          </p:cNvSpPr>
          <p:nvPr/>
        </p:nvSpPr>
        <p:spPr>
          <a:xfrm xmlns:a="http://schemas.openxmlformats.org/drawingml/2006/main">
            <a:off x="904875" y="6000750"/>
            <a:ext cx="10382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defRPr sz="975" b="0">
                <a:solidFill>
                  <a:srgbClr val="567089"/>
                </a:solidFill>
                <a:latin typeface="Arial"/>
                <a:ea typeface="Arial"/>
                <a:cs typeface="Arial"/>
              </a:defRPr>
            </a:pPr>
            <a:r>
              <a:rPr sz="975" b="0">
                <a:solidFill>
                  <a:srgbClr val="567089"/>
                </a:solidFill>
                <a:latin typeface="Arial"/>
                <a:ea typeface="Arial"/>
                <a:cs typeface="Arial"/>
              </a:rPr>
              <a:t>No screenshot included: the configured backend was unavailable during verification, so a live UI state could not be captured without fabricating content.</a:t>
            </a:r>
          </a:p>
        </p:txBody>
      </p:sp>
      <p:sp>
        <p:nvSpPr>
          <p:cNvPr id="14" name="">
            <a:extLst xmlns:a="http://schemas.openxmlformats.org/drawingml/2006/main">
              <a:ext uri="{FF2B5EF4-FFF2-40B4-BE49-F238E27FC236}">
                <a16:creationId xmlns:a16="http://schemas.microsoft.com/office/drawing/2014/main" id="{6BD469B4-C3C9-44EF-9679-31BB8703CDDC}"/>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5" name="">
            <a:extLst xmlns:a="http://schemas.openxmlformats.org/drawingml/2006/main">
              <a:ext uri="{FF2B5EF4-FFF2-40B4-BE49-F238E27FC236}">
                <a16:creationId xmlns:a16="http://schemas.microsoft.com/office/drawing/2014/main" id="{446A4466-9E29-4062-B511-4E218DA974AB}"/>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6" name="">
            <a:extLst xmlns:a="http://schemas.openxmlformats.org/drawingml/2006/main">
              <a:ext uri="{FF2B5EF4-FFF2-40B4-BE49-F238E27FC236}">
                <a16:creationId xmlns:a16="http://schemas.microsoft.com/office/drawing/2014/main" id="{944CF224-C847-41D1-BCC9-1FEE490D1588}"/>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12</a:t>
            </a:r>
          </a:p>
        </p:txBody>
      </p:sp>
    </p:spTree>
    <p:extLst>
      <p:ext uri="{BB962C8B-B14F-4D97-AF65-F5344CB8AC3E}">
        <p14:creationId xmlns:p14="http://schemas.microsoft.com/office/powerpoint/2010/main" val="945404300"/>
      </p:ext>
    </p:extLst>
  </p:cSld>
</p:sld>
</file>

<file path=ppt/slides/slide13.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54E225-8FC2-486A-8263-CCCA65EE7D9C}"/>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Database</a:t>
            </a:r>
          </a:p>
        </p:txBody>
      </p:sp>
      <p:sp>
        <p:nvSpPr>
          <p:cNvPr id="2" name="">
            <a:extLst xmlns:a="http://schemas.openxmlformats.org/drawingml/2006/main">
              <a:ext uri="{FF2B5EF4-FFF2-40B4-BE49-F238E27FC236}">
                <a16:creationId xmlns:a16="http://schemas.microsoft.com/office/drawing/2014/main" id="{E3DA4EF7-485A-47C5-9F1E-8336BCE400B8}"/>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09DCE0B-F6AE-47DD-AC11-24AB7BBE8BA8}"/>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PostgreSQL integration through SQLAlchemy ORM</a:t>
            </a:r>
          </a:p>
        </p:txBody>
      </p:sp>
      <p:graphicFrame>
        <p:nvGraphicFramePr>
          <p:cNvPr id="14" name=""/>
          <p:cNvGraphicFramePr/>
          <p:nvPr/>
        </p:nvGraphicFramePr>
        <p:xfrm>
          <a:off xmlns:a="http://schemas.openxmlformats.org/drawingml/2006/main" x="619125" y="1714500"/>
          <a:ext xmlns:a="http://schemas.openxmlformats.org/drawingml/2006/main" cx="10953750" cy="2428875"/>
        </p:xfrm>
        <a:graphic xmlns:a="http://schemas.openxmlformats.org/drawingml/2006/main">
          <a:graphicData uri="http://schemas.openxmlformats.org/drawingml/2006/table">
            <a:tbl>
              <a:tblPr firstRow="1" bandRow="1"/>
              <a:tblGrid>
                <a:gridCol w="2000250"/>
                <a:gridCol w="5095875"/>
                <a:gridCol w="3857625"/>
              </a:tblGrid>
              <a:tr h="809625">
                <a:tc>
                  <a:txBody>
                    <a:bodyPr>
                      <a:normAutofit/>
                    </a:bodyPr>
                    <a:lstStyle/>
                    <a:p>
                      <a:r>
                        <a:rPr sz="1125" b="1">
                          <a:solidFill>
                            <a:srgbClr val="FFFFFF"/>
                          </a:solidFill>
                          <a:latin typeface="Arial"/>
                          <a:ea typeface="Arial"/>
                          <a:cs typeface="Arial"/>
                        </a:rPr>
                        <a:t>Table</a:t>
                      </a:r>
                    </a:p>
                  </a:txBody>
                  <a:tcPr marL="91440" marR="91440" marT="45720" marB="45720">
                    <a:solidFill>
                      <a:srgbClr val="0B2545"/>
                    </a:solidFill>
                  </a:tcPr>
                </a:tc>
                <a:tc>
                  <a:txBody>
                    <a:bodyPr>
                      <a:normAutofit/>
                    </a:bodyPr>
                    <a:lstStyle/>
                    <a:p>
                      <a:r>
                        <a:rPr sz="1125" b="1">
                          <a:solidFill>
                            <a:srgbClr val="FFFFFF"/>
                          </a:solidFill>
                          <a:latin typeface="Arial"/>
                          <a:ea typeface="Arial"/>
                          <a:cs typeface="Arial"/>
                        </a:rPr>
                        <a:t>Columns / purpose</a:t>
                      </a:r>
                    </a:p>
                  </a:txBody>
                  <a:tcPr marL="91440" marR="91440" marT="45720" marB="45720">
                    <a:solidFill>
                      <a:srgbClr val="0B2545"/>
                    </a:solidFill>
                  </a:tcPr>
                </a:tc>
                <a:tc>
                  <a:txBody>
                    <a:bodyPr>
                      <a:normAutofit/>
                    </a:bodyPr>
                    <a:lstStyle/>
                    <a:p>
                      <a:r>
                        <a:rPr sz="1125" b="1">
                          <a:solidFill>
                            <a:srgbClr val="FFFFFF"/>
                          </a:solidFill>
                          <a:latin typeface="Arial"/>
                          <a:ea typeface="Arial"/>
                          <a:cs typeface="Arial"/>
                        </a:rPr>
                        <a:t>Data integrity</a:t>
                      </a:r>
                    </a:p>
                  </a:txBody>
                  <a:tcPr marL="91440" marR="91440" marT="45720" marB="45720">
                    <a:solidFill>
                      <a:srgbClr val="0B2545"/>
                    </a:solidFill>
                  </a:tcPr>
                </a:tc>
              </a:tr>
              <a:tr h="809625">
                <a:tc>
                  <a:txBody>
                    <a:bodyPr>
                      <a:normAutofit/>
                    </a:bodyPr>
                    <a:lstStyle/>
                    <a:p>
                      <a:r>
                        <a:rPr sz="1125">
                          <a:solidFill>
                            <a:srgbClr val="17324D"/>
                          </a:solidFill>
                          <a:latin typeface="Arial"/>
                          <a:ea typeface="Arial"/>
                          <a:cs typeface="Arial"/>
                        </a:rPr>
                        <a:t>weather_data</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id, date, state, temp_max, temp_min, temp_avg, humidity, rainfall</a:t>
                      </a:r>
                    </a:p>
                    <a:p>
                      <a:r>
                        <a:rPr sz="1125">
                          <a:solidFill>
                            <a:srgbClr val="17324D"/>
                          </a:solidFill>
                          <a:latin typeface="Arial"/>
                          <a:ea typeface="Arial"/>
                          <a:cs typeface="Arial"/>
                        </a:rPr>
                        <a:t>One daily weather measurement per state</a:t>
                      </a:r>
                    </a:p>
                  </a:txBody>
                  <a:tcPr marL="91440" marR="91440" marT="45720" marB="45720">
                    <a:solidFill>
                      <a:srgbClr val="FFFFFF"/>
                    </a:solidFill>
                  </a:tcPr>
                </a:tc>
                <a:tc>
                  <a:txBody>
                    <a:bodyPr>
                      <a:normAutofit/>
                    </a:bodyPr>
                    <a:lstStyle/>
                    <a:p>
                      <a:r>
                        <a:rPr sz="1125">
                          <a:solidFill>
                            <a:srgbClr val="17324D"/>
                          </a:solidFill>
                          <a:latin typeface="Arial"/>
                          <a:ea typeface="Arial"/>
                          <a:cs typeface="Arial"/>
                        </a:rPr>
                        <a:t>Primary key id</a:t>
                      </a:r>
                    </a:p>
                    <a:p>
                      <a:r>
                        <a:rPr sz="1125">
                          <a:solidFill>
                            <a:srgbClr val="17324D"/>
                          </a:solidFill>
                          <a:latin typeface="Arial"/>
                          <a:ea typeface="Arial"/>
                          <a:cs typeface="Arial"/>
                        </a:rPr>
                        <a:t>Unique (state, date)</a:t>
                      </a:r>
                    </a:p>
                    <a:p>
                      <a:r>
                        <a:rPr sz="1125">
                          <a:solidFill>
                            <a:srgbClr val="17324D"/>
                          </a:solidFill>
                          <a:latin typeface="Arial"/>
                          <a:ea typeface="Arial"/>
                          <a:cs typeface="Arial"/>
                        </a:rPr>
                        <a:t>Indexes on state and date</a:t>
                      </a:r>
                    </a:p>
                    <a:p>
                      <a:r>
                        <a:rPr sz="1125">
                          <a:solidFill>
                            <a:srgbClr val="17324D"/>
                          </a:solidFill>
                          <a:latin typeface="Arial"/>
                          <a:ea typeface="Arial"/>
                          <a:cs typeface="Arial"/>
                        </a:rPr>
                        <a:t>Non-null weather fields</a:t>
                      </a:r>
                    </a:p>
                  </a:txBody>
                  <a:tcPr marL="91440" marR="91440" marT="45720" marB="45720">
                    <a:solidFill>
                      <a:srgbClr val="FFFFFF"/>
                    </a:solidFill>
                  </a:tcPr>
                </a:tc>
              </a:tr>
              <a:tr h="809625">
                <a:tc>
                  <a:txBody>
                    <a:bodyPr>
                      <a:normAutofit/>
                    </a:bodyPr>
                    <a:lstStyle/>
                    <a:p>
                      <a:r>
                        <a:rPr sz="1125">
                          <a:solidFill>
                            <a:srgbClr val="17324D"/>
                          </a:solidFill>
                          <a:latin typeface="Arial"/>
                          <a:ea typeface="Arial"/>
                          <a:cs typeface="Arial"/>
                        </a:rPr>
                        <a:t>predictions</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id, state, forecast_date, predicted_temp_avg, created_at</a:t>
                      </a:r>
                    </a:p>
                    <a:p>
                      <a:r>
                        <a:rPr sz="1125">
                          <a:solidFill>
                            <a:srgbClr val="17324D"/>
                          </a:solidFill>
                          <a:latin typeface="Arial"/>
                          <a:ea typeface="Arial"/>
                          <a:cs typeface="Arial"/>
                        </a:rPr>
                        <a:t>Audit record for each prediction</a:t>
                      </a:r>
                    </a:p>
                  </a:txBody>
                  <a:tcPr marL="91440" marR="91440" marT="45720" marB="45720">
                    <a:solidFill>
                      <a:srgbClr val="EAF6FC"/>
                    </a:solidFill>
                  </a:tcPr>
                </a:tc>
                <a:tc>
                  <a:txBody>
                    <a:bodyPr>
                      <a:normAutofit/>
                    </a:bodyPr>
                    <a:lstStyle/>
                    <a:p>
                      <a:r>
                        <a:rPr sz="1125">
                          <a:solidFill>
                            <a:srgbClr val="17324D"/>
                          </a:solidFill>
                          <a:latin typeface="Arial"/>
                          <a:ea typeface="Arial"/>
                          <a:cs typeface="Arial"/>
                        </a:rPr>
                        <a:t>Primary key id</a:t>
                      </a:r>
                    </a:p>
                    <a:p>
                      <a:r>
                        <a:rPr sz="1125">
                          <a:solidFill>
                            <a:srgbClr val="17324D"/>
                          </a:solidFill>
                          <a:latin typeface="Arial"/>
                          <a:ea typeface="Arial"/>
                          <a:cs typeface="Arial"/>
                        </a:rPr>
                        <a:t>Unique (state, forecast_date, created_at)</a:t>
                      </a:r>
                    </a:p>
                    <a:p>
                      <a:r>
                        <a:rPr sz="1125">
                          <a:solidFill>
                            <a:srgbClr val="17324D"/>
                          </a:solidFill>
                          <a:latin typeface="Arial"/>
                          <a:ea typeface="Arial"/>
                          <a:cs typeface="Arial"/>
                        </a:rPr>
                        <a:t>Indexes on state and forecast_date</a:t>
                      </a:r>
                    </a:p>
                    <a:p>
                      <a:r>
                        <a:rPr sz="1125">
                          <a:solidFill>
                            <a:srgbClr val="17324D"/>
                          </a:solidFill>
                          <a:latin typeface="Arial"/>
                          <a:ea typeface="Arial"/>
                          <a:cs typeface="Arial"/>
                        </a:rPr>
                        <a:t>Server timestamp</a:t>
                      </a:r>
                    </a:p>
                  </a:txBody>
                  <a:tcPr marL="91440" marR="91440" marT="45720" marB="45720">
                    <a:solidFill>
                      <a:srgbClr val="EAF6FC"/>
                    </a:solidFill>
                  </a:tcPr>
                </a:tc>
              </a:tr>
            </a:tbl>
          </a:graphicData>
        </a:graphic>
      </p:graphicFrame>
      <p:sp>
        <p:nvSpPr>
          <p:cNvPr id="5" name="">
            <a:extLst xmlns:a="http://schemas.openxmlformats.org/drawingml/2006/main">
              <a:ext uri="{FF2B5EF4-FFF2-40B4-BE49-F238E27FC236}">
                <a16:creationId xmlns:a16="http://schemas.microsoft.com/office/drawing/2014/main" id="{1A4F1B83-158C-4002-AF77-ADE3EAFF536F}"/>
              </a:ext>
            </a:extLst>
          </p:cNvPr>
          <p:cNvSpPr>
            <a:spLocks xmlns:a="http://schemas.openxmlformats.org/drawingml/2006/main" noGrp="1"/>
          </p:cNvSpPr>
          <p:nvPr/>
        </p:nvSpPr>
        <p:spPr>
          <a:xfrm xmlns:a="http://schemas.openxmlformats.org/drawingml/2006/main">
            <a:off x="742950" y="4648200"/>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0077B6"/>
                </a:solidFill>
                <a:latin typeface="Arial"/>
                <a:ea typeface="Arial"/>
                <a:cs typeface="Arial"/>
              </a:defRPr>
            </a:pPr>
            <a:r>
              <a:rPr sz="1425" b="1">
                <a:solidFill>
                  <a:srgbClr val="0077B6"/>
                </a:solidFill>
                <a:latin typeface="Arial"/>
                <a:ea typeface="Arial"/>
                <a:cs typeface="Arial"/>
              </a:rPr>
              <a:t>Data flow</a:t>
            </a:r>
          </a:p>
        </p:txBody>
      </p:sp>
      <p:sp>
        <p:nvSpPr>
          <p:cNvPr id="6" name="">
            <a:extLst xmlns:a="http://schemas.openxmlformats.org/drawingml/2006/main">
              <a:ext uri="{FF2B5EF4-FFF2-40B4-BE49-F238E27FC236}">
                <a16:creationId xmlns:a16="http://schemas.microsoft.com/office/drawing/2014/main" id="{6331A10A-B04C-4C3E-9033-368CCA0EA743}"/>
              </a:ext>
            </a:extLst>
          </p:cNvPr>
          <p:cNvSpPr>
            <a:spLocks xmlns:a="http://schemas.openxmlformats.org/drawingml/2006/main" noGrp="1"/>
          </p:cNvSpPr>
          <p:nvPr/>
        </p:nvSpPr>
        <p:spPr>
          <a:xfrm xmlns:a="http://schemas.openxmlformats.org/drawingml/2006/main">
            <a:off x="742950" y="5067300"/>
            <a:ext cx="105727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weather_data supplies historical input  →  POST /predict creates model input  →  predictions retains the returned temperature and creation time</a:t>
            </a:r>
          </a:p>
        </p:txBody>
      </p:sp>
      <p:sp>
        <p:nvSpPr>
          <p:cNvPr id="7" name="">
            <a:extLst xmlns:a="http://schemas.openxmlformats.org/drawingml/2006/main">
              <a:ext uri="{FF2B5EF4-FFF2-40B4-BE49-F238E27FC236}">
                <a16:creationId xmlns:a16="http://schemas.microsoft.com/office/drawing/2014/main" id="{D23A3482-3B44-4DDA-BB18-09C7E0CE9B45}"/>
              </a:ext>
            </a:extLst>
          </p:cNvPr>
          <p:cNvSpPr>
            <a:spLocks xmlns:a="http://schemas.openxmlformats.org/drawingml/2006/main" noGrp="1"/>
          </p:cNvSpPr>
          <p:nvPr/>
        </p:nvSpPr>
        <p:spPr>
          <a:xfrm xmlns:a="http://schemas.openxmlformats.org/drawingml/2006/main">
            <a:off x="742950" y="58102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No foreign-key relationship is declared between the two ORM models. SQLite is explicitly rejected; PostgreSQL is mandatory.</a:t>
            </a:r>
          </a:p>
        </p:txBody>
      </p:sp>
      <p:sp>
        <p:nvSpPr>
          <p:cNvPr id="8" name="">
            <a:extLst xmlns:a="http://schemas.openxmlformats.org/drawingml/2006/main">
              <a:ext uri="{FF2B5EF4-FFF2-40B4-BE49-F238E27FC236}">
                <a16:creationId xmlns:a16="http://schemas.microsoft.com/office/drawing/2014/main" id="{5A973B36-3547-47ED-83AE-E5B9B1D08A37}"/>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9" name="">
            <a:extLst xmlns:a="http://schemas.openxmlformats.org/drawingml/2006/main">
              <a:ext uri="{FF2B5EF4-FFF2-40B4-BE49-F238E27FC236}">
                <a16:creationId xmlns:a16="http://schemas.microsoft.com/office/drawing/2014/main" id="{B03A47D7-8913-4EBB-A7C4-970024860217}"/>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0" name="">
            <a:extLst xmlns:a="http://schemas.openxmlformats.org/drawingml/2006/main">
              <a:ext uri="{FF2B5EF4-FFF2-40B4-BE49-F238E27FC236}">
                <a16:creationId xmlns:a16="http://schemas.microsoft.com/office/drawing/2014/main" id="{91D59377-419C-488E-9B0D-CB5062A99E15}"/>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13</a:t>
            </a:r>
          </a:p>
        </p:txBody>
      </p:sp>
    </p:spTree>
    <p:extLst>
      <p:ext uri="{BB962C8B-B14F-4D97-AF65-F5344CB8AC3E}">
        <p14:creationId xmlns:p14="http://schemas.microsoft.com/office/powerpoint/2010/main" val="133937166"/>
      </p:ext>
    </p:extLst>
  </p:cSld>
</p:sld>
</file>

<file path=ppt/slides/slide14.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BF57550-878E-42C0-9EE2-FE357B2BD2BA}"/>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Testing and Results</a:t>
            </a:r>
          </a:p>
        </p:txBody>
      </p:sp>
      <p:sp>
        <p:nvSpPr>
          <p:cNvPr id="2" name="">
            <a:extLst xmlns:a="http://schemas.openxmlformats.org/drawingml/2006/main">
              <a:ext uri="{FF2B5EF4-FFF2-40B4-BE49-F238E27FC236}">
                <a16:creationId xmlns:a16="http://schemas.microsoft.com/office/drawing/2014/main" id="{358D454E-5597-4174-9ECB-B941D1381BAA}"/>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2043F4-517E-406F-9281-2BDE4CDFAED0}"/>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Results from current repository inspection and executed checks</a:t>
            </a:r>
          </a:p>
        </p:txBody>
      </p:sp>
      <p:sp>
        <p:nvSpPr>
          <p:cNvPr id="4" name="">
            <a:extLst xmlns:a="http://schemas.openxmlformats.org/drawingml/2006/main">
              <a:ext uri="{FF2B5EF4-FFF2-40B4-BE49-F238E27FC236}">
                <a16:creationId xmlns:a16="http://schemas.microsoft.com/office/drawing/2014/main" id="{FE5F1D4F-E11A-4CFD-B5A2-97E33A3090EE}"/>
              </a:ext>
            </a:extLst>
          </p:cNvPr>
          <p:cNvSpPr>
            <a:spLocks xmlns:a="http://schemas.openxmlformats.org/drawingml/2006/main" noGrp="1"/>
          </p:cNvSpPr>
          <p:nvPr/>
        </p:nvSpPr>
        <p:spPr>
          <a:xfrm xmlns:a="http://schemas.openxmlformats.org/drawingml/2006/main">
            <a:off x="781050" y="15430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Saved model load and metadata</a:t>
            </a:r>
          </a:p>
        </p:txBody>
      </p:sp>
      <p:sp>
        <p:nvSpPr>
          <p:cNvPr id="5" name="">
            <a:extLst xmlns:a="http://schemas.openxmlformats.org/drawingml/2006/main">
              <a:ext uri="{FF2B5EF4-FFF2-40B4-BE49-F238E27FC236}">
                <a16:creationId xmlns:a16="http://schemas.microsoft.com/office/drawing/2014/main" id="{D112738E-0E8E-4033-8C0E-AA389E1AE319}"/>
              </a:ext>
            </a:extLst>
          </p:cNvPr>
          <p:cNvSpPr>
            <a:spLocks xmlns:a="http://schemas.openxmlformats.org/drawingml/2006/main" noGrp="1"/>
          </p:cNvSpPr>
          <p:nvPr/>
        </p:nvSpPr>
        <p:spPr>
          <a:xfrm xmlns:a="http://schemas.openxmlformats.org/drawingml/2006/main">
            <a:off x="4191000" y="1581150"/>
            <a:ext cx="895350" cy="247650"/>
          </a:xfrm>
          <a:prstGeom xmlns:a="http://schemas.openxmlformats.org/drawingml/2006/main" prst="roundRect">
            <a:avLst>
              <a:gd name="adj" fmla="val 50000"/>
            </a:avLst>
          </a:prstGeom>
          <a:solidFill xmlns:a="http://schemas.openxmlformats.org/drawingml/2006/main">
            <a:srgbClr val="E8F5EE"/>
          </a:solidFill>
          <a:ln xmlns:a="http://schemas.openxmlformats.org/drawingml/2006/main" w="9525">
            <a:solidFill>
              <a:srgbClr val="E8F5EE"/>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16794B"/>
                </a:solidFill>
                <a:latin typeface="Arial"/>
                <a:ea typeface="Arial"/>
                <a:cs typeface="Arial"/>
              </a:defRPr>
            </a:pPr>
            <a:r>
              <a:rPr sz="900" b="1">
                <a:solidFill>
                  <a:srgbClr val="16794B"/>
                </a:solidFill>
                <a:latin typeface="Arial"/>
                <a:ea typeface="Arial"/>
                <a:cs typeface="Arial"/>
              </a:rPr>
              <a:t>PASS</a:t>
            </a:r>
          </a:p>
        </p:txBody>
      </p:sp>
      <p:sp>
        <p:nvSpPr>
          <p:cNvPr id="6" name="">
            <a:extLst xmlns:a="http://schemas.openxmlformats.org/drawingml/2006/main">
              <a:ext uri="{FF2B5EF4-FFF2-40B4-BE49-F238E27FC236}">
                <a16:creationId xmlns:a16="http://schemas.microsoft.com/office/drawing/2014/main" id="{35A10228-0D50-4E9D-A3DD-B79C2457F045}"/>
              </a:ext>
            </a:extLst>
          </p:cNvPr>
          <p:cNvSpPr>
            <a:spLocks xmlns:a="http://schemas.openxmlformats.org/drawingml/2006/main" noGrp="1"/>
          </p:cNvSpPr>
          <p:nvPr/>
        </p:nvSpPr>
        <p:spPr>
          <a:xfrm xmlns:a="http://schemas.openxmlformats.org/drawingml/2006/main">
            <a:off x="5334000" y="15430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Gradient Boosting pipeline loaded; 13 features</a:t>
            </a:r>
          </a:p>
        </p:txBody>
      </p:sp>
      <p:sp>
        <p:nvSpPr>
          <p:cNvPr id="7" name="">
            <a:extLst xmlns:a="http://schemas.openxmlformats.org/drawingml/2006/main">
              <a:ext uri="{FF2B5EF4-FFF2-40B4-BE49-F238E27FC236}">
                <a16:creationId xmlns:a16="http://schemas.microsoft.com/office/drawing/2014/main" id="{48096B11-DF05-4636-9ED1-7F3F238465CD}"/>
              </a:ext>
            </a:extLst>
          </p:cNvPr>
          <p:cNvSpPr>
            <a:spLocks xmlns:a="http://schemas.openxmlformats.org/drawingml/2006/main" noGrp="1"/>
          </p:cNvSpPr>
          <p:nvPr/>
        </p:nvSpPr>
        <p:spPr>
          <a:xfrm xmlns:a="http://schemas.openxmlformats.org/drawingml/2006/main">
            <a:off x="781050" y="2143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Dataset NULL and duplicate checks</a:t>
            </a:r>
          </a:p>
        </p:txBody>
      </p:sp>
      <p:sp>
        <p:nvSpPr>
          <p:cNvPr id="8" name="">
            <a:extLst xmlns:a="http://schemas.openxmlformats.org/drawingml/2006/main">
              <a:ext uri="{FF2B5EF4-FFF2-40B4-BE49-F238E27FC236}">
                <a16:creationId xmlns:a16="http://schemas.microsoft.com/office/drawing/2014/main" id="{FBAB0C26-D02E-4191-8C5D-403211467125}"/>
              </a:ext>
            </a:extLst>
          </p:cNvPr>
          <p:cNvSpPr>
            <a:spLocks xmlns:a="http://schemas.openxmlformats.org/drawingml/2006/main" noGrp="1"/>
          </p:cNvSpPr>
          <p:nvPr/>
        </p:nvSpPr>
        <p:spPr>
          <a:xfrm xmlns:a="http://schemas.openxmlformats.org/drawingml/2006/main">
            <a:off x="4191000" y="2181225"/>
            <a:ext cx="895350" cy="247650"/>
          </a:xfrm>
          <a:prstGeom xmlns:a="http://schemas.openxmlformats.org/drawingml/2006/main" prst="roundRect">
            <a:avLst>
              <a:gd name="adj" fmla="val 50000"/>
            </a:avLst>
          </a:prstGeom>
          <a:solidFill xmlns:a="http://schemas.openxmlformats.org/drawingml/2006/main">
            <a:srgbClr val="E8F5EE"/>
          </a:solidFill>
          <a:ln xmlns:a="http://schemas.openxmlformats.org/drawingml/2006/main" w="9525">
            <a:solidFill>
              <a:srgbClr val="E8F5EE"/>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16794B"/>
                </a:solidFill>
                <a:latin typeface="Arial"/>
                <a:ea typeface="Arial"/>
                <a:cs typeface="Arial"/>
              </a:defRPr>
            </a:pPr>
            <a:r>
              <a:rPr sz="900" b="1">
                <a:solidFill>
                  <a:srgbClr val="16794B"/>
                </a:solidFill>
                <a:latin typeface="Arial"/>
                <a:ea typeface="Arial"/>
                <a:cs typeface="Arial"/>
              </a:rPr>
              <a:t>PASS</a:t>
            </a:r>
          </a:p>
        </p:txBody>
      </p:sp>
      <p:sp>
        <p:nvSpPr>
          <p:cNvPr id="9" name="">
            <a:extLst xmlns:a="http://schemas.openxmlformats.org/drawingml/2006/main">
              <a:ext uri="{FF2B5EF4-FFF2-40B4-BE49-F238E27FC236}">
                <a16:creationId xmlns:a16="http://schemas.microsoft.com/office/drawing/2014/main" id="{4EA40006-7029-4B26-8804-47F9D4E4C54F}"/>
              </a:ext>
            </a:extLst>
          </p:cNvPr>
          <p:cNvSpPr>
            <a:spLocks xmlns:a="http://schemas.openxmlformats.org/drawingml/2006/main" noGrp="1"/>
          </p:cNvSpPr>
          <p:nvPr/>
        </p:nvSpPr>
        <p:spPr>
          <a:xfrm xmlns:a="http://schemas.openxmlformats.org/drawingml/2006/main">
            <a:off x="5334000" y="214312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0 nulls in required fields; 0 duplicate state-date pairs</a:t>
            </a:r>
          </a:p>
        </p:txBody>
      </p:sp>
      <p:sp>
        <p:nvSpPr>
          <p:cNvPr id="10" name="">
            <a:extLst xmlns:a="http://schemas.openxmlformats.org/drawingml/2006/main">
              <a:ext uri="{FF2B5EF4-FFF2-40B4-BE49-F238E27FC236}">
                <a16:creationId xmlns:a16="http://schemas.microsoft.com/office/drawing/2014/main" id="{0CA23E7C-1C15-44FB-9CFF-4D6983874EC8}"/>
              </a:ext>
            </a:extLst>
          </p:cNvPr>
          <p:cNvSpPr>
            <a:spLocks xmlns:a="http://schemas.openxmlformats.org/drawingml/2006/main" noGrp="1"/>
          </p:cNvSpPr>
          <p:nvPr/>
        </p:nvSpPr>
        <p:spPr>
          <a:xfrm xmlns:a="http://schemas.openxmlformats.org/drawingml/2006/main">
            <a:off x="781050" y="27432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Date range validation</a:t>
            </a:r>
          </a:p>
        </p:txBody>
      </p:sp>
      <p:sp>
        <p:nvSpPr>
          <p:cNvPr id="11" name="">
            <a:extLst xmlns:a="http://schemas.openxmlformats.org/drawingml/2006/main">
              <a:ext uri="{FF2B5EF4-FFF2-40B4-BE49-F238E27FC236}">
                <a16:creationId xmlns:a16="http://schemas.microsoft.com/office/drawing/2014/main" id="{7ECFA7C1-9501-4E72-8DE0-734D41DF1814}"/>
              </a:ext>
            </a:extLst>
          </p:cNvPr>
          <p:cNvSpPr>
            <a:spLocks xmlns:a="http://schemas.openxmlformats.org/drawingml/2006/main" noGrp="1"/>
          </p:cNvSpPr>
          <p:nvPr/>
        </p:nvSpPr>
        <p:spPr>
          <a:xfrm xmlns:a="http://schemas.openxmlformats.org/drawingml/2006/main">
            <a:off x="4191000" y="2781300"/>
            <a:ext cx="895350" cy="247650"/>
          </a:xfrm>
          <a:prstGeom xmlns:a="http://schemas.openxmlformats.org/drawingml/2006/main" prst="roundRect">
            <a:avLst>
              <a:gd name="adj" fmla="val 50000"/>
            </a:avLst>
          </a:prstGeom>
          <a:solidFill xmlns:a="http://schemas.openxmlformats.org/drawingml/2006/main">
            <a:srgbClr val="E8F5EE"/>
          </a:solidFill>
          <a:ln xmlns:a="http://schemas.openxmlformats.org/drawingml/2006/main" w="9525">
            <a:solidFill>
              <a:srgbClr val="E8F5EE"/>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16794B"/>
                </a:solidFill>
                <a:latin typeface="Arial"/>
                <a:ea typeface="Arial"/>
                <a:cs typeface="Arial"/>
              </a:defRPr>
            </a:pPr>
            <a:r>
              <a:rPr sz="900" b="1">
                <a:solidFill>
                  <a:srgbClr val="16794B"/>
                </a:solidFill>
                <a:latin typeface="Arial"/>
                <a:ea typeface="Arial"/>
                <a:cs typeface="Arial"/>
              </a:rPr>
              <a:t>PASS</a:t>
            </a:r>
          </a:p>
        </p:txBody>
      </p:sp>
      <p:sp>
        <p:nvSpPr>
          <p:cNvPr id="12" name="">
            <a:extLst xmlns:a="http://schemas.openxmlformats.org/drawingml/2006/main">
              <a:ext uri="{FF2B5EF4-FFF2-40B4-BE49-F238E27FC236}">
                <a16:creationId xmlns:a16="http://schemas.microsoft.com/office/drawing/2014/main" id="{A2816090-02CA-4768-9312-F87BAE32DB35}"/>
              </a:ext>
            </a:extLst>
          </p:cNvPr>
          <p:cNvSpPr>
            <a:spLocks xmlns:a="http://schemas.openxmlformats.org/drawingml/2006/main" noGrp="1"/>
          </p:cNvSpPr>
          <p:nvPr/>
        </p:nvSpPr>
        <p:spPr>
          <a:xfrm xmlns:a="http://schemas.openxmlformats.org/drawingml/2006/main">
            <a:off x="5334000" y="27432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Parsed range: 2023-04-01 to 2025-10-06</a:t>
            </a:r>
          </a:p>
        </p:txBody>
      </p:sp>
      <p:sp>
        <p:nvSpPr>
          <p:cNvPr id="13" name="">
            <a:extLst xmlns:a="http://schemas.openxmlformats.org/drawingml/2006/main">
              <a:ext uri="{FF2B5EF4-FFF2-40B4-BE49-F238E27FC236}">
                <a16:creationId xmlns:a16="http://schemas.microsoft.com/office/drawing/2014/main" id="{94107FF0-AFC8-498B-8112-4C5C2F645CE7}"/>
              </a:ext>
            </a:extLst>
          </p:cNvPr>
          <p:cNvSpPr>
            <a:spLocks xmlns:a="http://schemas.openxmlformats.org/drawingml/2006/main" noGrp="1"/>
          </p:cNvSpPr>
          <p:nvPr/>
        </p:nvSpPr>
        <p:spPr>
          <a:xfrm xmlns:a="http://schemas.openxmlformats.org/drawingml/2006/main">
            <a:off x="781050" y="334327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Frontend build and TypeScript</a:t>
            </a:r>
          </a:p>
        </p:txBody>
      </p:sp>
      <p:sp>
        <p:nvSpPr>
          <p:cNvPr id="14" name="">
            <a:extLst xmlns:a="http://schemas.openxmlformats.org/drawingml/2006/main">
              <a:ext uri="{FF2B5EF4-FFF2-40B4-BE49-F238E27FC236}">
                <a16:creationId xmlns:a16="http://schemas.microsoft.com/office/drawing/2014/main" id="{2DE954EE-994C-44C5-8AD1-FD64204E716C}"/>
              </a:ext>
            </a:extLst>
          </p:cNvPr>
          <p:cNvSpPr>
            <a:spLocks xmlns:a="http://schemas.openxmlformats.org/drawingml/2006/main" noGrp="1"/>
          </p:cNvSpPr>
          <p:nvPr/>
        </p:nvSpPr>
        <p:spPr>
          <a:xfrm xmlns:a="http://schemas.openxmlformats.org/drawingml/2006/main">
            <a:off x="4191000" y="3381375"/>
            <a:ext cx="895350" cy="247650"/>
          </a:xfrm>
          <a:prstGeom xmlns:a="http://schemas.openxmlformats.org/drawingml/2006/main" prst="roundRect">
            <a:avLst>
              <a:gd name="adj" fmla="val 50000"/>
            </a:avLst>
          </a:prstGeom>
          <a:solidFill xmlns:a="http://schemas.openxmlformats.org/drawingml/2006/main">
            <a:srgbClr val="E8F5EE"/>
          </a:solidFill>
          <a:ln xmlns:a="http://schemas.openxmlformats.org/drawingml/2006/main" w="9525">
            <a:solidFill>
              <a:srgbClr val="E8F5EE"/>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16794B"/>
                </a:solidFill>
                <a:latin typeface="Arial"/>
                <a:ea typeface="Arial"/>
                <a:cs typeface="Arial"/>
              </a:defRPr>
            </a:pPr>
            <a:r>
              <a:rPr sz="900" b="1">
                <a:solidFill>
                  <a:srgbClr val="16794B"/>
                </a:solidFill>
                <a:latin typeface="Arial"/>
                <a:ea typeface="Arial"/>
                <a:cs typeface="Arial"/>
              </a:rPr>
              <a:t>PASS</a:t>
            </a:r>
          </a:p>
        </p:txBody>
      </p:sp>
      <p:sp>
        <p:nvSpPr>
          <p:cNvPr id="15" name="">
            <a:extLst xmlns:a="http://schemas.openxmlformats.org/drawingml/2006/main">
              <a:ext uri="{FF2B5EF4-FFF2-40B4-BE49-F238E27FC236}">
                <a16:creationId xmlns:a16="http://schemas.microsoft.com/office/drawing/2014/main" id="{1B6EACF3-56BA-4584-BDFD-4FE2B056EFAB}"/>
              </a:ext>
            </a:extLst>
          </p:cNvPr>
          <p:cNvSpPr>
            <a:spLocks xmlns:a="http://schemas.openxmlformats.org/drawingml/2006/main" noGrp="1"/>
          </p:cNvSpPr>
          <p:nvPr/>
        </p:nvSpPr>
        <p:spPr>
          <a:xfrm xmlns:a="http://schemas.openxmlformats.org/drawingml/2006/main">
            <a:off x="5334000" y="334327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tsc and Vite build completed; chunk-size warning issued</a:t>
            </a:r>
          </a:p>
        </p:txBody>
      </p:sp>
      <p:sp>
        <p:nvSpPr>
          <p:cNvPr id="16" name="">
            <a:extLst xmlns:a="http://schemas.openxmlformats.org/drawingml/2006/main">
              <a:ext uri="{FF2B5EF4-FFF2-40B4-BE49-F238E27FC236}">
                <a16:creationId xmlns:a16="http://schemas.microsoft.com/office/drawing/2014/main" id="{C303718E-3DB0-4BE2-8B4C-085A7AA3D5BB}"/>
              </a:ext>
            </a:extLst>
          </p:cNvPr>
          <p:cNvSpPr>
            <a:spLocks xmlns:a="http://schemas.openxmlformats.org/drawingml/2006/main" noGrp="1"/>
          </p:cNvSpPr>
          <p:nvPr/>
        </p:nvSpPr>
        <p:spPr>
          <a:xfrm xmlns:a="http://schemas.openxmlformats.org/drawingml/2006/main">
            <a:off x="781050" y="39433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SQLite and secret/config checks</a:t>
            </a:r>
          </a:p>
        </p:txBody>
      </p:sp>
      <p:sp>
        <p:nvSpPr>
          <p:cNvPr id="17" name="">
            <a:extLst xmlns:a="http://schemas.openxmlformats.org/drawingml/2006/main">
              <a:ext uri="{FF2B5EF4-FFF2-40B4-BE49-F238E27FC236}">
                <a16:creationId xmlns:a16="http://schemas.microsoft.com/office/drawing/2014/main" id="{6C4D1CC8-3766-464F-B93F-209B6C23C3D7}"/>
              </a:ext>
            </a:extLst>
          </p:cNvPr>
          <p:cNvSpPr>
            <a:spLocks xmlns:a="http://schemas.openxmlformats.org/drawingml/2006/main" noGrp="1"/>
          </p:cNvSpPr>
          <p:nvPr/>
        </p:nvSpPr>
        <p:spPr>
          <a:xfrm xmlns:a="http://schemas.openxmlformats.org/drawingml/2006/main">
            <a:off x="4191000" y="3981450"/>
            <a:ext cx="895350" cy="247650"/>
          </a:xfrm>
          <a:prstGeom xmlns:a="http://schemas.openxmlformats.org/drawingml/2006/main" prst="roundRect">
            <a:avLst>
              <a:gd name="adj" fmla="val 50000"/>
            </a:avLst>
          </a:prstGeom>
          <a:solidFill xmlns:a="http://schemas.openxmlformats.org/drawingml/2006/main">
            <a:srgbClr val="E8F5EE"/>
          </a:solidFill>
          <a:ln xmlns:a="http://schemas.openxmlformats.org/drawingml/2006/main" w="9525">
            <a:solidFill>
              <a:srgbClr val="E8F5EE"/>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16794B"/>
                </a:solidFill>
                <a:latin typeface="Arial"/>
                <a:ea typeface="Arial"/>
                <a:cs typeface="Arial"/>
              </a:defRPr>
            </a:pPr>
            <a:r>
              <a:rPr sz="900" b="1">
                <a:solidFill>
                  <a:srgbClr val="16794B"/>
                </a:solidFill>
                <a:latin typeface="Arial"/>
                <a:ea typeface="Arial"/>
                <a:cs typeface="Arial"/>
              </a:rPr>
              <a:t>PASS</a:t>
            </a:r>
          </a:p>
        </p:txBody>
      </p:sp>
      <p:sp>
        <p:nvSpPr>
          <p:cNvPr id="18" name="">
            <a:extLst xmlns:a="http://schemas.openxmlformats.org/drawingml/2006/main">
              <a:ext uri="{FF2B5EF4-FFF2-40B4-BE49-F238E27FC236}">
                <a16:creationId xmlns:a16="http://schemas.microsoft.com/office/drawing/2014/main" id="{AC57C4EA-4BE9-4C62-96D0-BD0C4841C4F1}"/>
              </a:ext>
            </a:extLst>
          </p:cNvPr>
          <p:cNvSpPr>
            <a:spLocks xmlns:a="http://schemas.openxmlformats.org/drawingml/2006/main" noGrp="1"/>
          </p:cNvSpPr>
          <p:nvPr/>
        </p:nvSpPr>
        <p:spPr>
          <a:xfrm xmlns:a="http://schemas.openxmlformats.org/drawingml/2006/main">
            <a:off x="5334000" y="394335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SQLite rejected; no hard-coded credential assignment found outside local .env</a:t>
            </a:r>
          </a:p>
        </p:txBody>
      </p:sp>
      <p:sp>
        <p:nvSpPr>
          <p:cNvPr id="19" name="">
            <a:extLst xmlns:a="http://schemas.openxmlformats.org/drawingml/2006/main">
              <a:ext uri="{FF2B5EF4-FFF2-40B4-BE49-F238E27FC236}">
                <a16:creationId xmlns:a16="http://schemas.microsoft.com/office/drawing/2014/main" id="{FEAA0145-5EED-4834-8410-D6376FDEB046}"/>
              </a:ext>
            </a:extLst>
          </p:cNvPr>
          <p:cNvSpPr>
            <a:spLocks xmlns:a="http://schemas.openxmlformats.org/drawingml/2006/main" noGrp="1"/>
          </p:cNvSpPr>
          <p:nvPr/>
        </p:nvSpPr>
        <p:spPr>
          <a:xfrm xmlns:a="http://schemas.openxmlformats.org/drawingml/2006/main">
            <a:off x="781050" y="45434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Current backend health / DB connection</a:t>
            </a:r>
          </a:p>
        </p:txBody>
      </p:sp>
      <p:sp>
        <p:nvSpPr>
          <p:cNvPr id="20" name="">
            <a:extLst xmlns:a="http://schemas.openxmlformats.org/drawingml/2006/main">
              <a:ext uri="{FF2B5EF4-FFF2-40B4-BE49-F238E27FC236}">
                <a16:creationId xmlns:a16="http://schemas.microsoft.com/office/drawing/2014/main" id="{4D3D9653-0D1B-4305-95AA-86E929484F47}"/>
              </a:ext>
            </a:extLst>
          </p:cNvPr>
          <p:cNvSpPr>
            <a:spLocks xmlns:a="http://schemas.openxmlformats.org/drawingml/2006/main" noGrp="1"/>
          </p:cNvSpPr>
          <p:nvPr/>
        </p:nvSpPr>
        <p:spPr>
          <a:xfrm xmlns:a="http://schemas.openxmlformats.org/drawingml/2006/main">
            <a:off x="4191000" y="4581525"/>
            <a:ext cx="895350" cy="247650"/>
          </a:xfrm>
          <a:prstGeom xmlns:a="http://schemas.openxmlformats.org/drawingml/2006/main" prst="roundRect">
            <a:avLst>
              <a:gd name="adj" fmla="val 50000"/>
            </a:avLst>
          </a:prstGeom>
          <a:solidFill xmlns:a="http://schemas.openxmlformats.org/drawingml/2006/main">
            <a:srgbClr val="FCEAE9"/>
          </a:solidFill>
          <a:ln xmlns:a="http://schemas.openxmlformats.org/drawingml/2006/main" w="9525">
            <a:solidFill>
              <a:srgbClr val="FCEAE9"/>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B42318"/>
                </a:solidFill>
                <a:latin typeface="Arial"/>
                <a:ea typeface="Arial"/>
                <a:cs typeface="Arial"/>
              </a:defRPr>
            </a:pPr>
            <a:r>
              <a:rPr sz="900" b="1">
                <a:solidFill>
                  <a:srgbClr val="B42318"/>
                </a:solidFill>
                <a:latin typeface="Arial"/>
                <a:ea typeface="Arial"/>
                <a:cs typeface="Arial"/>
              </a:rPr>
              <a:t>FAIL</a:t>
            </a:r>
          </a:p>
        </p:txBody>
      </p:sp>
      <p:sp>
        <p:nvSpPr>
          <p:cNvPr id="21" name="">
            <a:extLst xmlns:a="http://schemas.openxmlformats.org/drawingml/2006/main">
              <a:ext uri="{FF2B5EF4-FFF2-40B4-BE49-F238E27FC236}">
                <a16:creationId xmlns:a16="http://schemas.microsoft.com/office/drawing/2014/main" id="{4F23870B-5B33-43CF-931C-38A50001ADFD}"/>
              </a:ext>
            </a:extLst>
          </p:cNvPr>
          <p:cNvSpPr>
            <a:spLocks xmlns:a="http://schemas.openxmlformats.org/drawingml/2006/main" noGrp="1"/>
          </p:cNvSpPr>
          <p:nvPr/>
        </p:nvSpPr>
        <p:spPr>
          <a:xfrm xmlns:a="http://schemas.openxmlformats.org/drawingml/2006/main">
            <a:off x="5334000" y="4543425"/>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Configured PostgreSQL port 5433 was unreachable; check_connection() returned False</a:t>
            </a:r>
          </a:p>
        </p:txBody>
      </p:sp>
      <p:sp>
        <p:nvSpPr>
          <p:cNvPr id="22" name="">
            <a:extLst xmlns:a="http://schemas.openxmlformats.org/drawingml/2006/main">
              <a:ext uri="{FF2B5EF4-FFF2-40B4-BE49-F238E27FC236}">
                <a16:creationId xmlns:a16="http://schemas.microsoft.com/office/drawing/2014/main" id="{14FAF518-EB8D-4DAD-95BF-97668639A382}"/>
              </a:ext>
            </a:extLst>
          </p:cNvPr>
          <p:cNvSpPr>
            <a:spLocks xmlns:a="http://schemas.openxmlformats.org/drawingml/2006/main" noGrp="1"/>
          </p:cNvSpPr>
          <p:nvPr/>
        </p:nvSpPr>
        <p:spPr>
          <a:xfrm xmlns:a="http://schemas.openxmlformats.org/drawingml/2006/main">
            <a:off x="781050" y="5143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584"/>
          </a:bodyPr>
          <a:lstStyle xmlns:a="http://schemas.openxmlformats.org/drawingml/2006/main"/>
          <a:p xmlns:a="http://schemas.openxmlformats.org/drawingml/2006/main">
            <a:pPr>
              <a:defRPr sz="1200" b="1">
                <a:solidFill>
                  <a:srgbClr val="17324D"/>
                </a:solidFill>
                <a:latin typeface="Arial"/>
                <a:ea typeface="Arial"/>
                <a:cs typeface="Arial"/>
              </a:defRPr>
            </a:pPr>
            <a:r>
              <a:rPr sz="1200" b="1">
                <a:solidFill>
                  <a:srgbClr val="17324D"/>
                </a:solidFill>
                <a:latin typeface="Arial"/>
                <a:ea typeface="Arial"/>
                <a:cs typeface="Arial"/>
              </a:rPr>
              <a:t>Consistency test, forecast generation, live endpoints</a:t>
            </a:r>
          </a:p>
        </p:txBody>
      </p:sp>
      <p:sp>
        <p:nvSpPr>
          <p:cNvPr id="23" name="">
            <a:extLst xmlns:a="http://schemas.openxmlformats.org/drawingml/2006/main">
              <a:ext uri="{FF2B5EF4-FFF2-40B4-BE49-F238E27FC236}">
                <a16:creationId xmlns:a16="http://schemas.microsoft.com/office/drawing/2014/main" id="{522FE4B5-D87F-4B1D-8C7D-5E46FF5FE99C}"/>
              </a:ext>
            </a:extLst>
          </p:cNvPr>
          <p:cNvSpPr>
            <a:spLocks xmlns:a="http://schemas.openxmlformats.org/drawingml/2006/main" noGrp="1"/>
          </p:cNvSpPr>
          <p:nvPr/>
        </p:nvSpPr>
        <p:spPr>
          <a:xfrm xmlns:a="http://schemas.openxmlformats.org/drawingml/2006/main">
            <a:off x="4191000" y="5181600"/>
            <a:ext cx="895350" cy="247650"/>
          </a:xfrm>
          <a:prstGeom xmlns:a="http://schemas.openxmlformats.org/drawingml/2006/main" prst="roundRect">
            <a:avLst>
              <a:gd name="adj" fmla="val 50000"/>
            </a:avLst>
          </a:prstGeom>
          <a:solidFill xmlns:a="http://schemas.openxmlformats.org/drawingml/2006/main">
            <a:srgbClr val="FFF4DF"/>
          </a:solidFill>
          <a:ln xmlns:a="http://schemas.openxmlformats.org/drawingml/2006/main" w="9525">
            <a:solidFill>
              <a:srgbClr val="FFF4DF"/>
            </a:solidFill>
          </a:ln>
        </p:spPr>
        <p:txBody>
          <a:bodyPr xmlns:a="http://schemas.openxmlformats.org/drawingml/2006/main" anchor="ctr">
            <a:normAutofit fontScale="61006"/>
          </a:bodyPr>
          <a:lstStyle xmlns:a="http://schemas.openxmlformats.org/drawingml/2006/main"/>
          <a:p xmlns:a="http://schemas.openxmlformats.org/drawingml/2006/main">
            <a:pPr>
              <a:defRPr sz="900" b="1">
                <a:solidFill>
                  <a:srgbClr val="A66400"/>
                </a:solidFill>
                <a:latin typeface="Arial"/>
                <a:ea typeface="Arial"/>
                <a:cs typeface="Arial"/>
              </a:defRPr>
            </a:pPr>
            <a:r>
              <a:rPr sz="900" b="1">
                <a:solidFill>
                  <a:srgbClr val="A66400"/>
                </a:solidFill>
                <a:latin typeface="Arial"/>
                <a:ea typeface="Arial"/>
                <a:cs typeface="Arial"/>
              </a:rPr>
              <a:t>WARNING</a:t>
            </a:r>
          </a:p>
        </p:txBody>
      </p:sp>
      <p:sp>
        <p:nvSpPr>
          <p:cNvPr id="24" name="">
            <a:extLst xmlns:a="http://schemas.openxmlformats.org/drawingml/2006/main">
              <a:ext uri="{FF2B5EF4-FFF2-40B4-BE49-F238E27FC236}">
                <a16:creationId xmlns:a16="http://schemas.microsoft.com/office/drawing/2014/main" id="{B65BAD3E-7679-4CE6-A840-F7058EE0433C}"/>
              </a:ext>
            </a:extLst>
          </p:cNvPr>
          <p:cNvSpPr>
            <a:spLocks xmlns:a="http://schemas.openxmlformats.org/drawingml/2006/main" noGrp="1"/>
          </p:cNvSpPr>
          <p:nvPr/>
        </p:nvSpPr>
        <p:spPr>
          <a:xfrm xmlns:a="http://schemas.openxmlformats.org/drawingml/2006/main">
            <a:off x="5334000" y="5143500"/>
            <a:ext cx="600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17324D"/>
                </a:solidFill>
                <a:latin typeface="Arial"/>
                <a:ea typeface="Arial"/>
                <a:cs typeface="Arial"/>
              </a:defRPr>
            </a:pPr>
            <a:r>
              <a:rPr sz="1125" b="0">
                <a:solidFill>
                  <a:srgbClr val="17324D"/>
                </a:solidFill>
                <a:latin typeface="Arial"/>
                <a:ea typeface="Arial"/>
                <a:cs typeface="Arial"/>
              </a:rPr>
              <a:t>Not completed because configured database was unavailable</a:t>
            </a:r>
          </a:p>
        </p:txBody>
      </p:sp>
      <p:sp>
        <p:nvSpPr>
          <p:cNvPr id="25" name="">
            <a:extLst xmlns:a="http://schemas.openxmlformats.org/drawingml/2006/main">
              <a:ext uri="{FF2B5EF4-FFF2-40B4-BE49-F238E27FC236}">
                <a16:creationId xmlns:a16="http://schemas.microsoft.com/office/drawing/2014/main" id="{41520AAA-B5F9-45B7-8850-A25D5E6B3290}"/>
              </a:ext>
            </a:extLst>
          </p:cNvPr>
          <p:cNvSpPr>
            <a:spLocks xmlns:a="http://schemas.openxmlformats.org/drawingml/2006/main" noGrp="1"/>
          </p:cNvSpPr>
          <p:nvPr/>
        </p:nvSpPr>
        <p:spPr>
          <a:xfrm xmlns:a="http://schemas.openxmlformats.org/drawingml/2006/main">
            <a:off x="1285875" y="5886450"/>
            <a:ext cx="9620250" cy="323850"/>
          </a:xfrm>
          <a:prstGeom xmlns:a="http://schemas.openxmlformats.org/drawingml/2006/main" prst="roundRect">
            <a:avLst>
              <a:gd name="adj" fmla="val 50000"/>
            </a:avLst>
          </a:prstGeom>
          <a:solidFill xmlns:a="http://schemas.openxmlformats.org/drawingml/2006/main">
            <a:srgbClr val="0B2545"/>
          </a:solidFill>
          <a:ln xmlns:a="http://schemas.openxmlformats.org/drawingml/2006/main" w="9525">
            <a:solidFill>
              <a:srgbClr val="0B2545"/>
            </a:solidFill>
          </a:ln>
        </p:spPr>
        <p:txBody>
          <a:bodyPr xmlns:a="http://schemas.openxmlformats.org/drawingml/2006/main" anchor="ctr">
            <a:normAutofit fontScale="75217"/>
          </a:bodyPr>
          <a:lstStyle xmlns:a="http://schemas.openxmlformats.org/drawingml/2006/main"/>
          <a:p xmlns:a="http://schemas.openxmlformats.org/drawingml/2006/main">
            <a:pPr>
              <a:defRPr sz="1200" b="1">
                <a:solidFill>
                  <a:srgbClr val="FFFFFF"/>
                </a:solidFill>
                <a:latin typeface="Arial"/>
                <a:ea typeface="Arial"/>
                <a:cs typeface="Arial"/>
              </a:defRPr>
            </a:pPr>
            <a:r>
              <a:rPr sz="1200" b="1">
                <a:solidFill>
                  <a:srgbClr val="FFFFFF"/>
                </a:solidFill>
                <a:latin typeface="Arial"/>
                <a:ea typeface="Arial"/>
                <a:cs typeface="Arial"/>
              </a:rPr>
              <a:t>Stored model test metrics: MAE 0.8760 °C   RMSE 1.1854 °C   R² 0.9694</a:t>
            </a:r>
          </a:p>
        </p:txBody>
      </p:sp>
      <p:sp>
        <p:nvSpPr>
          <p:cNvPr id="26" name="">
            <a:extLst xmlns:a="http://schemas.openxmlformats.org/drawingml/2006/main">
              <a:ext uri="{FF2B5EF4-FFF2-40B4-BE49-F238E27FC236}">
                <a16:creationId xmlns:a16="http://schemas.microsoft.com/office/drawing/2014/main" id="{41775F62-6BC5-4DD2-AE8D-39E2ECC617B2}"/>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27" name="">
            <a:extLst xmlns:a="http://schemas.openxmlformats.org/drawingml/2006/main">
              <a:ext uri="{FF2B5EF4-FFF2-40B4-BE49-F238E27FC236}">
                <a16:creationId xmlns:a16="http://schemas.microsoft.com/office/drawing/2014/main" id="{33374E68-090D-4799-88D5-C5C4A00702B0}"/>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28" name="">
            <a:extLst xmlns:a="http://schemas.openxmlformats.org/drawingml/2006/main">
              <a:ext uri="{FF2B5EF4-FFF2-40B4-BE49-F238E27FC236}">
                <a16:creationId xmlns:a16="http://schemas.microsoft.com/office/drawing/2014/main" id="{7389E94A-7C6C-4CC6-83BC-5F4BDBCCA44A}"/>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14</a:t>
            </a:r>
          </a:p>
        </p:txBody>
      </p:sp>
    </p:spTree>
    <p:extLst>
      <p:ext uri="{BB962C8B-B14F-4D97-AF65-F5344CB8AC3E}">
        <p14:creationId xmlns:p14="http://schemas.microsoft.com/office/powerpoint/2010/main" val="2128522625"/>
      </p:ext>
    </p:extLst>
  </p:cSld>
</p:sld>
</file>

<file path=ppt/slides/slide15.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A48A4AA-D773-4F36-8527-2AAA2064BE8C}"/>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Deployment Architecture</a:t>
            </a:r>
          </a:p>
        </p:txBody>
      </p:sp>
      <p:sp>
        <p:nvSpPr>
          <p:cNvPr id="2" name="">
            <a:extLst xmlns:a="http://schemas.openxmlformats.org/drawingml/2006/main">
              <a:ext uri="{FF2B5EF4-FFF2-40B4-BE49-F238E27FC236}">
                <a16:creationId xmlns:a16="http://schemas.microsoft.com/office/drawing/2014/main" id="{31BF7441-DF59-4034-8960-D15A9FEFB5EC}"/>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742D13-915C-4805-A0AD-F410D6645092}"/>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Confirmed local configuration only</a:t>
            </a:r>
          </a:p>
        </p:txBody>
      </p:sp>
      <p:sp>
        <p:nvSpPr>
          <p:cNvPr id="4" name="">
            <a:extLst xmlns:a="http://schemas.openxmlformats.org/drawingml/2006/main">
              <a:ext uri="{FF2B5EF4-FFF2-40B4-BE49-F238E27FC236}">
                <a16:creationId xmlns:a16="http://schemas.microsoft.com/office/drawing/2014/main" id="{E6310A83-632B-43C7-BE27-EB0EC53CA17D}"/>
              </a:ext>
            </a:extLst>
          </p:cNvPr>
          <p:cNvSpPr>
            <a:spLocks xmlns:a="http://schemas.openxmlformats.org/drawingml/2006/main" noGrp="1"/>
          </p:cNvSpPr>
          <p:nvPr/>
        </p:nvSpPr>
        <p:spPr>
          <a:xfrm xmlns:a="http://schemas.openxmlformats.org/drawingml/2006/main">
            <a:off x="857250" y="1857375"/>
            <a:ext cx="17145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GitHub remote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repository</a:t>
            </a:r>
          </a:p>
        </p:txBody>
      </p:sp>
      <p:sp>
        <p:nvSpPr>
          <p:cNvPr id="5" name="">
            <a:extLst xmlns:a="http://schemas.openxmlformats.org/drawingml/2006/main">
              <a:ext uri="{FF2B5EF4-FFF2-40B4-BE49-F238E27FC236}">
                <a16:creationId xmlns:a16="http://schemas.microsoft.com/office/drawing/2014/main" id="{F85318AA-0654-41B2-9FA6-20541AC1E455}"/>
              </a:ext>
            </a:extLst>
          </p:cNvPr>
          <p:cNvSpPr>
            <a:spLocks xmlns:a="http://schemas.openxmlformats.org/drawingml/2006/main" noGrp="1"/>
          </p:cNvSpPr>
          <p:nvPr/>
        </p:nvSpPr>
        <p:spPr>
          <a:xfrm xmlns:a="http://schemas.openxmlformats.org/drawingml/2006/main">
            <a:off x="3476625" y="1857375"/>
            <a:ext cx="1857375" cy="742950"/>
          </a:xfrm>
          <a:prstGeom xmlns:a="http://schemas.openxmlformats.org/drawingml/2006/main" prst="roundRect">
            <a:avLst>
              <a:gd name="adj" fmla="val 10256"/>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React + Vite</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local frontend</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port 5173</a:t>
            </a:r>
          </a:p>
        </p:txBody>
      </p:sp>
      <p:sp>
        <p:nvSpPr>
          <p:cNvPr id="6" name="">
            <a:extLst xmlns:a="http://schemas.openxmlformats.org/drawingml/2006/main">
              <a:ext uri="{FF2B5EF4-FFF2-40B4-BE49-F238E27FC236}">
                <a16:creationId xmlns:a16="http://schemas.microsoft.com/office/drawing/2014/main" id="{5F867C2E-D3F7-4140-BF1B-F7244B259A14}"/>
              </a:ext>
            </a:extLst>
          </p:cNvPr>
          <p:cNvSpPr>
            <a:spLocks xmlns:a="http://schemas.openxmlformats.org/drawingml/2006/main" noGrp="1"/>
          </p:cNvSpPr>
          <p:nvPr/>
        </p:nvSpPr>
        <p:spPr>
          <a:xfrm xmlns:a="http://schemas.openxmlformats.org/drawingml/2006/main">
            <a:off x="6238875" y="1857375"/>
            <a:ext cx="1952625" cy="742950"/>
          </a:xfrm>
          <a:prstGeom xmlns:a="http://schemas.openxmlformats.org/drawingml/2006/main" prst="roundRect">
            <a:avLst>
              <a:gd name="adj" fmla="val 10256"/>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FastAPI + Uvicorn</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local backend</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port 8000</a:t>
            </a:r>
          </a:p>
        </p:txBody>
      </p:sp>
      <p:sp>
        <p:nvSpPr>
          <p:cNvPr id="7" name="">
            <a:extLst xmlns:a="http://schemas.openxmlformats.org/drawingml/2006/main">
              <a:ext uri="{FF2B5EF4-FFF2-40B4-BE49-F238E27FC236}">
                <a16:creationId xmlns:a16="http://schemas.microsoft.com/office/drawing/2014/main" id="{7E73F03D-C64E-4A4B-8DA2-BE182FBA2448}"/>
              </a:ext>
            </a:extLst>
          </p:cNvPr>
          <p:cNvSpPr>
            <a:spLocks xmlns:a="http://schemas.openxmlformats.org/drawingml/2006/main" noGrp="1"/>
          </p:cNvSpPr>
          <p:nvPr/>
        </p:nvSpPr>
        <p:spPr>
          <a:xfrm xmlns:a="http://schemas.openxmlformats.org/drawingml/2006/main">
            <a:off x="9096375" y="1857375"/>
            <a:ext cx="18097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PostgreSQL</a:t>
            </a:r>
          </a:p>
          <a:p xmlns:a="http://schemas.openxmlformats.org/drawingml/2006/main">
            <a:pPr>
              <a:defRPr sz="1125" b="1">
                <a:solidFill>
                  <a:srgbClr val="0B2545"/>
                </a:solidFill>
                <a:latin typeface="Arial"/>
                <a:ea typeface="Arial"/>
                <a:cs typeface="Arial"/>
              </a:defRPr>
            </a:pPr>
            <a:r>
              <a:rPr sz="1125" b="1">
                <a:solidFill>
                  <a:srgbClr val="0B2545"/>
                </a:solidFill>
                <a:latin typeface="Arial"/>
                <a:ea typeface="Arial"/>
                <a:cs typeface="Arial"/>
              </a:rPr>
              <a:t>via DATABASE_URL</a:t>
            </a:r>
          </a:p>
        </p:txBody>
      </p:sp>
      <p:sp>
        <p:nvSpPr>
          <p:cNvPr id="8" name="">
            <a:extLst xmlns:a="http://schemas.openxmlformats.org/drawingml/2006/main">
              <a:ext uri="{FF2B5EF4-FFF2-40B4-BE49-F238E27FC236}">
                <a16:creationId xmlns:a16="http://schemas.microsoft.com/office/drawing/2014/main" id="{8368F1A2-FD17-44BA-84F0-ED77361ACDC2}"/>
              </a:ext>
            </a:extLst>
          </p:cNvPr>
          <p:cNvSpPr>
            <a:spLocks xmlns:a="http://schemas.openxmlformats.org/drawingml/2006/main" noGrp="1"/>
          </p:cNvSpPr>
          <p:nvPr/>
        </p:nvSpPr>
        <p:spPr>
          <a:xfrm xmlns:a="http://schemas.openxmlformats.org/drawingml/2006/main">
            <a:off x="2571750" y="2190750"/>
            <a:ext cx="904875" cy="0"/>
          </a:xfrm>
          <a:prstGeom xmlns:a="http://schemas.openxmlformats.org/drawingml/2006/main" prst="line">
            <a:avLst/>
          </a:prstGeom>
          <a:ln xmlns:a="http://schemas.openxmlformats.org/drawingml/2006/main" w="19050">
            <a:solidFill>
              <a:srgbClr val="0077B6"/>
            </a:solidFill>
          </a:ln>
        </p:spPr>
      </p:sp>
      <p:sp>
        <p:nvSpPr>
          <p:cNvPr id="9" name="">
            <a:extLst xmlns:a="http://schemas.openxmlformats.org/drawingml/2006/main">
              <a:ext uri="{FF2B5EF4-FFF2-40B4-BE49-F238E27FC236}">
                <a16:creationId xmlns:a16="http://schemas.microsoft.com/office/drawing/2014/main" id="{19CE587A-4A78-4919-B666-CA8762119D81}"/>
              </a:ext>
            </a:extLst>
          </p:cNvPr>
          <p:cNvSpPr>
            <a:spLocks xmlns:a="http://schemas.openxmlformats.org/drawingml/2006/main" noGrp="1"/>
          </p:cNvSpPr>
          <p:nvPr/>
        </p:nvSpPr>
        <p:spPr>
          <a:xfrm xmlns:a="http://schemas.openxmlformats.org/drawingml/2006/main">
            <a:off x="3352800" y="2124075"/>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0" name="">
            <a:extLst xmlns:a="http://schemas.openxmlformats.org/drawingml/2006/main">
              <a:ext uri="{FF2B5EF4-FFF2-40B4-BE49-F238E27FC236}">
                <a16:creationId xmlns:a16="http://schemas.microsoft.com/office/drawing/2014/main" id="{FA5FAB19-9A58-4018-8969-FA2E248D0EF9}"/>
              </a:ext>
            </a:extLst>
          </p:cNvPr>
          <p:cNvSpPr>
            <a:spLocks xmlns:a="http://schemas.openxmlformats.org/drawingml/2006/main" noGrp="1"/>
          </p:cNvSpPr>
          <p:nvPr/>
        </p:nvSpPr>
        <p:spPr>
          <a:xfrm xmlns:a="http://schemas.openxmlformats.org/drawingml/2006/main">
            <a:off x="5334000" y="2228850"/>
            <a:ext cx="904875" cy="0"/>
          </a:xfrm>
          <a:prstGeom xmlns:a="http://schemas.openxmlformats.org/drawingml/2006/main" prst="line">
            <a:avLst/>
          </a:prstGeom>
          <a:ln xmlns:a="http://schemas.openxmlformats.org/drawingml/2006/main" w="19050">
            <a:solidFill>
              <a:srgbClr val="0077B6"/>
            </a:solidFill>
          </a:ln>
        </p:spPr>
      </p:sp>
      <p:sp>
        <p:nvSpPr>
          <p:cNvPr id="11" name="">
            <a:extLst xmlns:a="http://schemas.openxmlformats.org/drawingml/2006/main">
              <a:ext uri="{FF2B5EF4-FFF2-40B4-BE49-F238E27FC236}">
                <a16:creationId xmlns:a16="http://schemas.microsoft.com/office/drawing/2014/main" id="{0704D5F8-5505-466F-B8CF-0838FE2F63C3}"/>
              </a:ext>
            </a:extLst>
          </p:cNvPr>
          <p:cNvSpPr>
            <a:spLocks xmlns:a="http://schemas.openxmlformats.org/drawingml/2006/main" noGrp="1"/>
          </p:cNvSpPr>
          <p:nvPr/>
        </p:nvSpPr>
        <p:spPr>
          <a:xfrm xmlns:a="http://schemas.openxmlformats.org/drawingml/2006/main">
            <a:off x="6115050" y="2162175"/>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2" name="">
            <a:extLst xmlns:a="http://schemas.openxmlformats.org/drawingml/2006/main">
              <a:ext uri="{FF2B5EF4-FFF2-40B4-BE49-F238E27FC236}">
                <a16:creationId xmlns:a16="http://schemas.microsoft.com/office/drawing/2014/main" id="{0BA960E9-A778-45C7-9C63-2BE22B93BD8C}"/>
              </a:ext>
            </a:extLst>
          </p:cNvPr>
          <p:cNvSpPr>
            <a:spLocks xmlns:a="http://schemas.openxmlformats.org/drawingml/2006/main" noGrp="1"/>
          </p:cNvSpPr>
          <p:nvPr/>
        </p:nvSpPr>
        <p:spPr>
          <a:xfrm xmlns:a="http://schemas.openxmlformats.org/drawingml/2006/main">
            <a:off x="8191500" y="2228850"/>
            <a:ext cx="904875" cy="0"/>
          </a:xfrm>
          <a:prstGeom xmlns:a="http://schemas.openxmlformats.org/drawingml/2006/main" prst="line">
            <a:avLst/>
          </a:prstGeom>
          <a:ln xmlns:a="http://schemas.openxmlformats.org/drawingml/2006/main" w="19050">
            <a:solidFill>
              <a:srgbClr val="0077B6"/>
            </a:solidFill>
          </a:ln>
        </p:spPr>
      </p:sp>
      <p:sp>
        <p:nvSpPr>
          <p:cNvPr id="13" name="">
            <a:extLst xmlns:a="http://schemas.openxmlformats.org/drawingml/2006/main">
              <a:ext uri="{FF2B5EF4-FFF2-40B4-BE49-F238E27FC236}">
                <a16:creationId xmlns:a16="http://schemas.microsoft.com/office/drawing/2014/main" id="{41DF308D-6A82-43A3-A533-164F435C9F8E}"/>
              </a:ext>
            </a:extLst>
          </p:cNvPr>
          <p:cNvSpPr>
            <a:spLocks xmlns:a="http://schemas.openxmlformats.org/drawingml/2006/main" noGrp="1"/>
          </p:cNvSpPr>
          <p:nvPr/>
        </p:nvSpPr>
        <p:spPr>
          <a:xfrm xmlns:a="http://schemas.openxmlformats.org/drawingml/2006/main">
            <a:off x="8972550" y="2162175"/>
            <a:ext cx="142875" cy="133350"/>
          </a:xfrm>
          <a:prstGeom xmlns:a="http://schemas.openxmlformats.org/drawingml/2006/main" prst="rightArrow">
            <a:avLst/>
          </a:prstGeom>
          <a:solidFill xmlns:a="http://schemas.openxmlformats.org/drawingml/2006/main">
            <a:srgbClr val="0077B6"/>
          </a:solidFill>
          <a:ln xmlns:a="http://schemas.openxmlformats.org/drawingml/2006/main" w="9525">
            <a:solidFill>
              <a:srgbClr val="0077B6"/>
            </a:solidFill>
          </a:ln>
        </p:spPr>
      </p:sp>
      <p:sp>
        <p:nvSpPr>
          <p:cNvPr id="14" name="">
            <a:extLst xmlns:a="http://schemas.openxmlformats.org/drawingml/2006/main">
              <a:ext uri="{FF2B5EF4-FFF2-40B4-BE49-F238E27FC236}">
                <a16:creationId xmlns:a16="http://schemas.microsoft.com/office/drawing/2014/main" id="{607D2111-EF26-478F-8E83-B95566E87CD9}"/>
              </a:ext>
            </a:extLst>
          </p:cNvPr>
          <p:cNvSpPr>
            <a:spLocks xmlns:a="http://schemas.openxmlformats.org/drawingml/2006/main" noGrp="1"/>
          </p:cNvSpPr>
          <p:nvPr/>
        </p:nvSpPr>
        <p:spPr>
          <a:xfrm xmlns:a="http://schemas.openxmlformats.org/drawingml/2006/main">
            <a:off x="857250" y="34290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0077B6"/>
                </a:solidFill>
                <a:latin typeface="Arial"/>
                <a:ea typeface="Arial"/>
                <a:cs typeface="Arial"/>
              </a:defRPr>
            </a:pPr>
            <a:r>
              <a:rPr sz="1425" b="1">
                <a:solidFill>
                  <a:srgbClr val="0077B6"/>
                </a:solidFill>
                <a:latin typeface="Arial"/>
                <a:ea typeface="Arial"/>
                <a:cs typeface="Arial"/>
              </a:rPr>
              <a:t>Environment variables</a:t>
            </a:r>
          </a:p>
        </p:txBody>
      </p:sp>
      <p:sp>
        <p:nvSpPr>
          <p:cNvPr id="15" name="">
            <a:extLst xmlns:a="http://schemas.openxmlformats.org/drawingml/2006/main">
              <a:ext uri="{FF2B5EF4-FFF2-40B4-BE49-F238E27FC236}">
                <a16:creationId xmlns:a16="http://schemas.microsoft.com/office/drawing/2014/main" id="{2C952006-AD30-4E38-B4D5-ACEAC4B719FF}"/>
              </a:ext>
            </a:extLst>
          </p:cNvPr>
          <p:cNvSpPr>
            <a:spLocks xmlns:a="http://schemas.openxmlformats.org/drawingml/2006/main" noGrp="1"/>
          </p:cNvSpPr>
          <p:nvPr/>
        </p:nvSpPr>
        <p:spPr>
          <a:xfrm xmlns:a="http://schemas.openxmlformats.org/drawingml/2006/main">
            <a:off x="857250" y="3838575"/>
            <a:ext cx="9810750" cy="419100"/>
          </a:xfrm>
          <a:prstGeom xmlns:a="http://schemas.openxmlformats.org/drawingml/2006/main" prst="roundRect">
            <a:avLst>
              <a:gd name="adj" fmla="val 18182"/>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87503"/>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VITE_API_BASE_URL controls the frontend API base URL. DATABASE_URL supplies PostgreSQL. CORS_ORIGINS controls allowed frontend origins.</a:t>
            </a:r>
          </a:p>
        </p:txBody>
      </p:sp>
      <p:sp>
        <p:nvSpPr>
          <p:cNvPr id="16" name="">
            <a:extLst xmlns:a="http://schemas.openxmlformats.org/drawingml/2006/main">
              <a:ext uri="{FF2B5EF4-FFF2-40B4-BE49-F238E27FC236}">
                <a16:creationId xmlns:a16="http://schemas.microsoft.com/office/drawing/2014/main" id="{A39DEDBF-5939-49CE-9FCD-A65D87E36098}"/>
              </a:ext>
            </a:extLst>
          </p:cNvPr>
          <p:cNvSpPr>
            <a:spLocks xmlns:a="http://schemas.openxmlformats.org/drawingml/2006/main" noGrp="1"/>
          </p:cNvSpPr>
          <p:nvPr/>
        </p:nvSpPr>
        <p:spPr>
          <a:xfrm xmlns:a="http://schemas.openxmlformats.org/drawingml/2006/main">
            <a:off x="857250" y="4762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1">
                <a:solidFill>
                  <a:srgbClr val="A66400"/>
                </a:solidFill>
                <a:latin typeface="Arial"/>
                <a:ea typeface="Arial"/>
                <a:cs typeface="Arial"/>
              </a:defRPr>
            </a:pPr>
            <a:r>
              <a:rPr sz="1425" b="1">
                <a:solidFill>
                  <a:srgbClr val="A66400"/>
                </a:solidFill>
                <a:latin typeface="Arial"/>
                <a:ea typeface="Arial"/>
                <a:cs typeface="Arial"/>
              </a:rPr>
              <a:t>Not verified in repository</a:t>
            </a:r>
          </a:p>
        </p:txBody>
      </p:sp>
      <p:sp>
        <p:nvSpPr>
          <p:cNvPr id="17" name="">
            <a:extLst xmlns:a="http://schemas.openxmlformats.org/drawingml/2006/main">
              <a:ext uri="{FF2B5EF4-FFF2-40B4-BE49-F238E27FC236}">
                <a16:creationId xmlns:a16="http://schemas.microsoft.com/office/drawing/2014/main" id="{E5098CFD-0465-4824-A47F-96F94C31EE24}"/>
              </a:ext>
            </a:extLst>
          </p:cNvPr>
          <p:cNvSpPr>
            <a:spLocks xmlns:a="http://schemas.openxmlformats.org/drawingml/2006/main" noGrp="1"/>
          </p:cNvSpPr>
          <p:nvPr/>
        </p:nvSpPr>
        <p:spPr>
          <a:xfrm xmlns:a="http://schemas.openxmlformats.org/drawingml/2006/main">
            <a:off x="857250" y="5172075"/>
            <a:ext cx="9810750" cy="419100"/>
          </a:xfrm>
          <a:prstGeom xmlns:a="http://schemas.openxmlformats.org/drawingml/2006/main" prst="roundRect">
            <a:avLst>
              <a:gd name="adj" fmla="val 18182"/>
            </a:avLst>
          </a:prstGeom>
          <a:solidFill xmlns:a="http://schemas.openxmlformats.org/drawingml/2006/main">
            <a:srgbClr val="FFF4DF"/>
          </a:solidFill>
          <a:ln xmlns:a="http://schemas.openxmlformats.org/drawingml/2006/main" w="9525">
            <a:solidFill>
              <a:srgbClr val="F6D49B"/>
            </a:solidFill>
          </a:ln>
        </p:spPr>
        <p:txBody>
          <a:bodyPr xmlns:a="http://schemas.openxmlformats.org/drawingml/2006/main" anchor="ctr">
            <a:normAutofit fontScale="99550"/>
          </a:bodyPr>
          <a:lstStyle xmlns:a="http://schemas.openxmlformats.org/drawingml/2006/main"/>
          <a:p xmlns:a="http://schemas.openxmlformats.org/drawingml/2006/main">
            <a:pPr>
              <a:defRPr sz="1275" b="0">
                <a:solidFill>
                  <a:srgbClr val="17324D"/>
                </a:solidFill>
                <a:latin typeface="Arial"/>
                <a:ea typeface="Arial"/>
                <a:cs typeface="Arial"/>
              </a:defRPr>
            </a:pPr>
            <a:r>
              <a:rPr sz="1275" b="0">
                <a:solidFill>
                  <a:srgbClr val="17324D"/>
                </a:solidFill>
                <a:latin typeface="Arial"/>
                <a:ea typeface="Arial"/>
                <a:cs typeface="Arial"/>
              </a:rPr>
              <a:t>No Vercel, Render, Neon, Docker, GitHub Actions or production deployment manifest found. Do not claim a cloud deployment topology.</a:t>
            </a:r>
          </a:p>
        </p:txBody>
      </p:sp>
      <p:sp>
        <p:nvSpPr>
          <p:cNvPr id="18" name="">
            <a:extLst xmlns:a="http://schemas.openxmlformats.org/drawingml/2006/main">
              <a:ext uri="{FF2B5EF4-FFF2-40B4-BE49-F238E27FC236}">
                <a16:creationId xmlns:a16="http://schemas.microsoft.com/office/drawing/2014/main" id="{56B60549-487F-4CBC-A8B9-3D5AA9B7C594}"/>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9" name="">
            <a:extLst xmlns:a="http://schemas.openxmlformats.org/drawingml/2006/main">
              <a:ext uri="{FF2B5EF4-FFF2-40B4-BE49-F238E27FC236}">
                <a16:creationId xmlns:a16="http://schemas.microsoft.com/office/drawing/2014/main" id="{031D6F58-24C5-4A77-B795-4F6B4EA146C3}"/>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20" name="">
            <a:extLst xmlns:a="http://schemas.openxmlformats.org/drawingml/2006/main">
              <a:ext uri="{FF2B5EF4-FFF2-40B4-BE49-F238E27FC236}">
                <a16:creationId xmlns:a16="http://schemas.microsoft.com/office/drawing/2014/main" id="{36D3E931-144D-4D5B-9450-A54B4C467A56}"/>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15</a:t>
            </a:r>
          </a:p>
        </p:txBody>
      </p:sp>
    </p:spTree>
    <p:extLst>
      <p:ext uri="{BB962C8B-B14F-4D97-AF65-F5344CB8AC3E}">
        <p14:creationId xmlns:p14="http://schemas.microsoft.com/office/powerpoint/2010/main" val="1683668282"/>
      </p:ext>
    </p:extLst>
  </p:cSld>
</p:sld>
</file>

<file path=ppt/slides/slide16.xml><?xml version="1.0" encoding="utf-8"?>
<p:sld xmlns:p="http://schemas.openxmlformats.org/presentationml/2006/main">
  <p:cSld>
    <p:bg>
      <p:bgPr>
        <a:solidFill xmlns:a="http://schemas.openxmlformats.org/drawingml/2006/main">
          <a:srgbClr val="F6FAFD"/>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852995-DFCE-4096-880B-342EA96A76E3}"/>
              </a:ext>
            </a:extLst>
          </p:cNvPr>
          <p:cNvSpPr>
            <a:spLocks xmlns:a="http://schemas.openxmlformats.org/drawingml/2006/main" noGrp="1"/>
          </p:cNvSpPr>
          <p:nvPr/>
        </p:nvSpPr>
        <p:spPr>
          <a:xfrm xmlns:a="http://schemas.openxmlformats.org/drawingml/2006/main">
            <a:off x="609600" y="4000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defRPr sz="2550" b="1">
                <a:solidFill>
                  <a:srgbClr val="0B2545"/>
                </a:solidFill>
                <a:latin typeface="Arial"/>
                <a:ea typeface="Arial"/>
                <a:cs typeface="Arial"/>
              </a:defRPr>
            </a:pPr>
            <a:r>
              <a:rPr sz="2550" b="1">
                <a:solidFill>
                  <a:srgbClr val="0B2545"/>
                </a:solidFill>
                <a:latin typeface="Arial"/>
                <a:ea typeface="Arial"/>
                <a:cs typeface="Arial"/>
              </a:rPr>
              <a:t>Conclusion and Future Scope</a:t>
            </a:r>
          </a:p>
        </p:txBody>
      </p:sp>
      <p:sp>
        <p:nvSpPr>
          <p:cNvPr id="2" name="">
            <a:extLst xmlns:a="http://schemas.openxmlformats.org/drawingml/2006/main">
              <a:ext uri="{FF2B5EF4-FFF2-40B4-BE49-F238E27FC236}">
                <a16:creationId xmlns:a16="http://schemas.microsoft.com/office/drawing/2014/main" id="{BBCF7737-1E6C-4983-BBF7-8236F33341C6}"/>
              </a:ext>
            </a:extLst>
          </p:cNvPr>
          <p:cNvSpPr>
            <a:spLocks xmlns:a="http://schemas.openxmlformats.org/drawingml/2006/main" noGrp="1"/>
          </p:cNvSpPr>
          <p:nvPr/>
        </p:nvSpPr>
        <p:spPr>
          <a:xfrm xmlns:a="http://schemas.openxmlformats.org/drawingml/2006/main">
            <a:off x="609600" y="981075"/>
            <a:ext cx="1000125" cy="57150"/>
          </a:xfrm>
          <a:prstGeom xmlns:a="http://schemas.openxmlformats.org/drawingml/2006/main" prst="rect">
            <a:avLst/>
          </a:prstGeom>
          <a:solidFill xmlns:a="http://schemas.openxmlformats.org/drawingml/2006/main">
            <a:srgbClr val="0077B6"/>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44C14B5-B48B-445A-88E5-7A53A51E80C4}"/>
              </a:ext>
            </a:extLst>
          </p:cNvPr>
          <p:cNvSpPr>
            <a:spLocks xmlns:a="http://schemas.openxmlformats.org/drawingml/2006/main" noGrp="1"/>
          </p:cNvSpPr>
          <p:nvPr/>
        </p:nvSpPr>
        <p:spPr>
          <a:xfrm xmlns:a="http://schemas.openxmlformats.org/drawingml/2006/main">
            <a:off x="609600" y="112395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125" b="0">
                <a:solidFill>
                  <a:srgbClr val="567089"/>
                </a:solidFill>
                <a:latin typeface="Arial"/>
                <a:ea typeface="Arial"/>
                <a:cs typeface="Arial"/>
              </a:defRPr>
            </a:pPr>
            <a:r>
              <a:rPr sz="1125" b="0">
                <a:solidFill>
                  <a:srgbClr val="567089"/>
                </a:solidFill>
                <a:latin typeface="Arial"/>
                <a:ea typeface="Arial"/>
                <a:cs typeface="Arial"/>
              </a:rPr>
              <a:t>Implemented functionality versus explicitly future work</a:t>
            </a:r>
          </a:p>
        </p:txBody>
      </p:sp>
      <p:sp>
        <p:nvSpPr>
          <p:cNvPr id="4" name="">
            <a:extLst xmlns:a="http://schemas.openxmlformats.org/drawingml/2006/main">
              <a:ext uri="{FF2B5EF4-FFF2-40B4-BE49-F238E27FC236}">
                <a16:creationId xmlns:a16="http://schemas.microsoft.com/office/drawing/2014/main" id="{6F9E2243-4565-44FE-8EB3-B924CDE87A00}"/>
              </a:ext>
            </a:extLst>
          </p:cNvPr>
          <p:cNvSpPr>
            <a:spLocks xmlns:a="http://schemas.openxmlformats.org/drawingml/2006/main" noGrp="1"/>
          </p:cNvSpPr>
          <p:nvPr/>
        </p:nvSpPr>
        <p:spPr>
          <a:xfrm xmlns:a="http://schemas.openxmlformats.org/drawingml/2006/main">
            <a:off x="809625" y="1571625"/>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defRPr sz="1800" b="1">
                <a:solidFill>
                  <a:srgbClr val="0077B6"/>
                </a:solidFill>
                <a:latin typeface="Arial"/>
                <a:ea typeface="Arial"/>
                <a:cs typeface="Arial"/>
              </a:defRPr>
            </a:pPr>
            <a:r>
              <a:rPr sz="1800" b="1">
                <a:solidFill>
                  <a:srgbClr val="0077B6"/>
                </a:solidFill>
                <a:latin typeface="Arial"/>
                <a:ea typeface="Arial"/>
                <a:cs typeface="Arial"/>
              </a:rPr>
              <a:t>Conclusion</a:t>
            </a:r>
          </a:p>
        </p:txBody>
      </p:sp>
      <p:sp>
        <p:nvSpPr>
          <p:cNvPr id="5" name="">
            <a:extLst xmlns:a="http://schemas.openxmlformats.org/drawingml/2006/main">
              <a:ext uri="{FF2B5EF4-FFF2-40B4-BE49-F238E27FC236}">
                <a16:creationId xmlns:a16="http://schemas.microsoft.com/office/drawing/2014/main" id="{D44175DA-ED88-4110-8858-AF99B3DEF7A6}"/>
              </a:ext>
            </a:extLst>
          </p:cNvPr>
          <p:cNvSpPr>
            <a:spLocks xmlns:a="http://schemas.openxmlformats.org/drawingml/2006/main" noGrp="1"/>
          </p:cNvSpPr>
          <p:nvPr/>
        </p:nvSpPr>
        <p:spPr>
          <a:xfrm xmlns:a="http://schemas.openxmlformats.org/drawingml/2006/main">
            <a:off x="809625" y="2076450"/>
            <a:ext cx="4429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00" b="0">
                <a:solidFill>
                  <a:srgbClr val="17324D"/>
                </a:solidFill>
                <a:latin typeface="Arial"/>
                <a:ea typeface="Arial"/>
                <a:cs typeface="Arial"/>
              </a:defRPr>
            </a:pPr>
            <a:r>
              <a:rPr sz="1500" b="0">
                <a:solidFill>
                  <a:srgbClr val="17324D"/>
                </a:solidFill>
                <a:latin typeface="Arial"/>
                <a:ea typeface="Arial"/>
                <a:cs typeface="Arial"/>
              </a:rPr>
              <a:t>The repository implements a local full-stack workflow for next-day average-temperature forecasting across 34 state labels. It includes model training and comparison, leakage-aware feature engineering, FastAPI validation, PostgreSQL models and a four-page React interface.</a:t>
            </a:r>
          </a:p>
        </p:txBody>
      </p:sp>
      <p:sp>
        <p:nvSpPr>
          <p:cNvPr id="6" name="">
            <a:extLst xmlns:a="http://schemas.openxmlformats.org/drawingml/2006/main">
              <a:ext uri="{FF2B5EF4-FFF2-40B4-BE49-F238E27FC236}">
                <a16:creationId xmlns:a16="http://schemas.microsoft.com/office/drawing/2014/main" id="{C555135C-4828-406C-B505-76327B1343C5}"/>
              </a:ext>
            </a:extLst>
          </p:cNvPr>
          <p:cNvSpPr>
            <a:spLocks xmlns:a="http://schemas.openxmlformats.org/drawingml/2006/main" noGrp="1"/>
          </p:cNvSpPr>
          <p:nvPr/>
        </p:nvSpPr>
        <p:spPr>
          <a:xfrm xmlns:a="http://schemas.openxmlformats.org/drawingml/2006/main">
            <a:off x="6572250" y="1571625"/>
            <a:ext cx="442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94"/>
          </a:bodyPr>
          <a:lstStyle xmlns:a="http://schemas.openxmlformats.org/drawingml/2006/main"/>
          <a:p xmlns:a="http://schemas.openxmlformats.org/drawingml/2006/main">
            <a:pPr>
              <a:defRPr sz="1800" b="1">
                <a:solidFill>
                  <a:srgbClr val="00A6A6"/>
                </a:solidFill>
                <a:latin typeface="Arial"/>
                <a:ea typeface="Arial"/>
                <a:cs typeface="Arial"/>
              </a:defRPr>
            </a:pPr>
            <a:r>
              <a:rPr sz="1800" b="1">
                <a:solidFill>
                  <a:srgbClr val="00A6A6"/>
                </a:solidFill>
                <a:latin typeface="Arial"/>
                <a:ea typeface="Arial"/>
                <a:cs typeface="Arial"/>
              </a:rPr>
              <a:t>Future scope</a:t>
            </a:r>
          </a:p>
        </p:txBody>
      </p:sp>
      <p:sp>
        <p:nvSpPr>
          <p:cNvPr id="7" name="">
            <a:extLst xmlns:a="http://schemas.openxmlformats.org/drawingml/2006/main">
              <a:ext uri="{FF2B5EF4-FFF2-40B4-BE49-F238E27FC236}">
                <a16:creationId xmlns:a16="http://schemas.microsoft.com/office/drawing/2014/main" id="{7E5A7E8E-BA61-4656-AB76-CBE916AAA64B}"/>
              </a:ext>
            </a:extLst>
          </p:cNvPr>
          <p:cNvSpPr>
            <a:spLocks xmlns:a="http://schemas.openxmlformats.org/drawingml/2006/main" noGrp="1"/>
          </p:cNvSpPr>
          <p:nvPr/>
        </p:nvSpPr>
        <p:spPr>
          <a:xfrm xmlns:a="http://schemas.openxmlformats.org/drawingml/2006/main">
            <a:off x="6667500" y="20955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 Compare additional forecasting models</a:t>
            </a:r>
          </a:p>
        </p:txBody>
      </p:sp>
      <p:sp>
        <p:nvSpPr>
          <p:cNvPr id="8" name="">
            <a:extLst xmlns:a="http://schemas.openxmlformats.org/drawingml/2006/main">
              <a:ext uri="{FF2B5EF4-FFF2-40B4-BE49-F238E27FC236}">
                <a16:creationId xmlns:a16="http://schemas.microsoft.com/office/drawing/2014/main" id="{57B9ABAC-D951-425A-AC49-C16AAC20D704}"/>
              </a:ext>
            </a:extLst>
          </p:cNvPr>
          <p:cNvSpPr>
            <a:spLocks xmlns:a="http://schemas.openxmlformats.org/drawingml/2006/main" noGrp="1"/>
          </p:cNvSpPr>
          <p:nvPr/>
        </p:nvSpPr>
        <p:spPr>
          <a:xfrm xmlns:a="http://schemas.openxmlformats.org/drawingml/2006/main">
            <a:off x="6667500" y="263842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 Add justified weather parameters</a:t>
            </a:r>
          </a:p>
        </p:txBody>
      </p:sp>
      <p:sp>
        <p:nvSpPr>
          <p:cNvPr id="9" name="">
            <a:extLst xmlns:a="http://schemas.openxmlformats.org/drawingml/2006/main">
              <a:ext uri="{FF2B5EF4-FFF2-40B4-BE49-F238E27FC236}">
                <a16:creationId xmlns:a16="http://schemas.microsoft.com/office/drawing/2014/main" id="{0C9150C1-C502-42DF-A649-A4A65FE93C54}"/>
              </a:ext>
            </a:extLst>
          </p:cNvPr>
          <p:cNvSpPr>
            <a:spLocks xmlns:a="http://schemas.openxmlformats.org/drawingml/2006/main" noGrp="1"/>
          </p:cNvSpPr>
          <p:nvPr/>
        </p:nvSpPr>
        <p:spPr>
          <a:xfrm xmlns:a="http://schemas.openxmlformats.org/drawingml/2006/main">
            <a:off x="6667500" y="31813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 Extend supported locations and forecast horizon</a:t>
            </a:r>
          </a:p>
        </p:txBody>
      </p:sp>
      <p:sp>
        <p:nvSpPr>
          <p:cNvPr id="10" name="">
            <a:extLst xmlns:a="http://schemas.openxmlformats.org/drawingml/2006/main">
              <a:ext uri="{FF2B5EF4-FFF2-40B4-BE49-F238E27FC236}">
                <a16:creationId xmlns:a16="http://schemas.microsoft.com/office/drawing/2014/main" id="{CDAA55CC-7C2D-4B2D-94EC-4A38C1FF3DAF}"/>
              </a:ext>
            </a:extLst>
          </p:cNvPr>
          <p:cNvSpPr>
            <a:spLocks xmlns:a="http://schemas.openxmlformats.org/drawingml/2006/main" noGrp="1"/>
          </p:cNvSpPr>
          <p:nvPr/>
        </p:nvSpPr>
        <p:spPr>
          <a:xfrm xmlns:a="http://schemas.openxmlformats.org/drawingml/2006/main">
            <a:off x="6667500" y="37242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 Automate reliable data updates</a:t>
            </a:r>
          </a:p>
        </p:txBody>
      </p:sp>
      <p:sp>
        <p:nvSpPr>
          <p:cNvPr id="11" name="">
            <a:extLst xmlns:a="http://schemas.openxmlformats.org/drawingml/2006/main">
              <a:ext uri="{FF2B5EF4-FFF2-40B4-BE49-F238E27FC236}">
                <a16:creationId xmlns:a16="http://schemas.microsoft.com/office/drawing/2014/main" id="{492781B5-03D5-46FB-9C1A-24666FBF459C}"/>
              </a:ext>
            </a:extLst>
          </p:cNvPr>
          <p:cNvSpPr>
            <a:spLocks xmlns:a="http://schemas.openxmlformats.org/drawingml/2006/main" noGrp="1"/>
          </p:cNvSpPr>
          <p:nvPr/>
        </p:nvSpPr>
        <p:spPr>
          <a:xfrm xmlns:a="http://schemas.openxmlformats.org/drawingml/2006/main">
            <a:off x="6667500" y="42672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17324D"/>
                </a:solidFill>
                <a:latin typeface="Arial"/>
                <a:ea typeface="Arial"/>
                <a:cs typeface="Arial"/>
              </a:defRPr>
            </a:pPr>
            <a:r>
              <a:rPr sz="1350" b="0">
                <a:solidFill>
                  <a:srgbClr val="17324D"/>
                </a:solidFill>
                <a:latin typeface="Arial"/>
                <a:ea typeface="Arial"/>
                <a:cs typeface="Arial"/>
              </a:rPr>
              <a:t>• Configure and verify production deployment</a:t>
            </a:r>
          </a:p>
        </p:txBody>
      </p:sp>
      <p:sp>
        <p:nvSpPr>
          <p:cNvPr id="12" name="">
            <a:extLst xmlns:a="http://schemas.openxmlformats.org/drawingml/2006/main">
              <a:ext uri="{FF2B5EF4-FFF2-40B4-BE49-F238E27FC236}">
                <a16:creationId xmlns:a16="http://schemas.microsoft.com/office/drawing/2014/main" id="{F9879B0D-8286-4D4D-BCDD-88EBBF2979CE}"/>
              </a:ext>
            </a:extLst>
          </p:cNvPr>
          <p:cNvSpPr>
            <a:spLocks xmlns:a="http://schemas.openxmlformats.org/drawingml/2006/main" noGrp="1"/>
          </p:cNvSpPr>
          <p:nvPr/>
        </p:nvSpPr>
        <p:spPr>
          <a:xfrm xmlns:a="http://schemas.openxmlformats.org/drawingml/2006/main">
            <a:off x="1190625" y="5095875"/>
            <a:ext cx="9858375" cy="400050"/>
          </a:xfrm>
          <a:prstGeom xmlns:a="http://schemas.openxmlformats.org/drawingml/2006/main" prst="roundRect">
            <a:avLst>
              <a:gd name="adj" fmla="val 19048"/>
            </a:avLst>
          </a:prstGeom>
          <a:solidFill xmlns:a="http://schemas.openxmlformats.org/drawingml/2006/main">
            <a:srgbClr val="EAF6FC"/>
          </a:solidFill>
          <a:ln xmlns:a="http://schemas.openxmlformats.org/drawingml/2006/main" w="9525">
            <a:solidFill>
              <a:srgbClr val="C9DDEB"/>
            </a:solid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0B2545"/>
                </a:solidFill>
                <a:latin typeface="Arial"/>
                <a:ea typeface="Arial"/>
                <a:cs typeface="Arial"/>
              </a:defRPr>
            </a:pPr>
            <a:r>
              <a:rPr sz="1275" b="1">
                <a:solidFill>
                  <a:srgbClr val="0B2545"/>
                </a:solidFill>
                <a:latin typeface="Arial"/>
                <a:ea typeface="Arial"/>
                <a:cs typeface="Arial"/>
              </a:rPr>
              <a:t>Future items are proposed improvements. They are not claimed as current repository functionality.</a:t>
            </a:r>
          </a:p>
        </p:txBody>
      </p:sp>
      <p:sp>
        <p:nvSpPr>
          <p:cNvPr id="13" name="">
            <a:extLst xmlns:a="http://schemas.openxmlformats.org/drawingml/2006/main">
              <a:ext uri="{FF2B5EF4-FFF2-40B4-BE49-F238E27FC236}">
                <a16:creationId xmlns:a16="http://schemas.microsoft.com/office/drawing/2014/main" id="{79280D45-13CC-4BC3-88B5-55974095EDB4}"/>
              </a:ext>
            </a:extLst>
          </p:cNvPr>
          <p:cNvSpPr>
            <a:spLocks xmlns:a="http://schemas.openxmlformats.org/drawingml/2006/main" noGrp="1"/>
          </p:cNvSpPr>
          <p:nvPr/>
        </p:nvSpPr>
        <p:spPr>
          <a:xfrm xmlns:a="http://schemas.openxmlformats.org/drawingml/2006/main">
            <a:off x="4572000" y="58102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defRPr sz="1875" b="1">
                <a:solidFill>
                  <a:srgbClr val="0B2545"/>
                </a:solidFill>
                <a:latin typeface="Arial"/>
                <a:ea typeface="Arial"/>
                <a:cs typeface="Arial"/>
              </a:defRPr>
            </a:pPr>
            <a:r>
              <a:rPr sz="1875" b="1">
                <a:solidFill>
                  <a:srgbClr val="0B2545"/>
                </a:solidFill>
                <a:latin typeface="Arial"/>
                <a:ea typeface="Arial"/>
                <a:cs typeface="Arial"/>
              </a:rPr>
              <a:t>Thank you</a:t>
            </a:r>
          </a:p>
        </p:txBody>
      </p:sp>
      <p:sp>
        <p:nvSpPr>
          <p:cNvPr id="14" name="">
            <a:extLst xmlns:a="http://schemas.openxmlformats.org/drawingml/2006/main">
              <a:ext uri="{FF2B5EF4-FFF2-40B4-BE49-F238E27FC236}">
                <a16:creationId xmlns:a16="http://schemas.microsoft.com/office/drawing/2014/main" id="{DAA7B789-E2D4-4465-BD08-62E42F613CAF}"/>
              </a:ext>
            </a:extLst>
          </p:cNvPr>
          <p:cNvSpPr>
            <a:spLocks xmlns:a="http://schemas.openxmlformats.org/drawingml/2006/main" noGrp="1"/>
          </p:cNvSpPr>
          <p:nvPr/>
        </p:nvSpPr>
        <p:spPr>
          <a:xfrm xmlns:a="http://schemas.openxmlformats.org/drawingml/2006/main">
            <a:off x="609600" y="6457950"/>
            <a:ext cx="10972800" cy="0"/>
          </a:xfrm>
          <a:prstGeom xmlns:a="http://schemas.openxmlformats.org/drawingml/2006/main" prst="line">
            <a:avLst/>
          </a:prstGeom>
          <a:ln xmlns:a="http://schemas.openxmlformats.org/drawingml/2006/main" w="9525">
            <a:solidFill>
              <a:srgbClr val="C9DDEB"/>
            </a:solidFill>
          </a:ln>
        </p:spPr>
      </p:sp>
      <p:sp>
        <p:nvSpPr>
          <p:cNvPr id="15" name="">
            <a:extLst xmlns:a="http://schemas.openxmlformats.org/drawingml/2006/main">
              <a:ext uri="{FF2B5EF4-FFF2-40B4-BE49-F238E27FC236}">
                <a16:creationId xmlns:a16="http://schemas.microsoft.com/office/drawing/2014/main" id="{72E4A4B9-8B2F-4465-8BF1-ADBD39263F84}"/>
              </a:ext>
            </a:extLst>
          </p:cNvPr>
          <p:cNvSpPr>
            <a:spLocks xmlns:a="http://schemas.openxmlformats.org/drawingml/2006/main" noGrp="1"/>
          </p:cNvSpPr>
          <p:nvPr/>
        </p:nvSpPr>
        <p:spPr>
          <a:xfrm xmlns:a="http://schemas.openxmlformats.org/drawingml/2006/main">
            <a:off x="609600" y="6543675"/>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788"/>
          </a:bodyPr>
          <a:lstStyle xmlns:a="http://schemas.openxmlformats.org/drawingml/2006/main"/>
          <a:p xmlns:a="http://schemas.openxmlformats.org/drawingml/2006/main">
            <a:pPr>
              <a:defRPr sz="825" b="0">
                <a:solidFill>
                  <a:srgbClr val="567089"/>
                </a:solidFill>
                <a:latin typeface="Arial"/>
                <a:ea typeface="Arial"/>
                <a:cs typeface="Arial"/>
              </a:defRPr>
            </a:pPr>
            <a:r>
              <a:rPr sz="825" b="0">
                <a:solidFill>
                  <a:srgbClr val="567089"/>
                </a:solidFill>
                <a:latin typeface="Arial"/>
                <a:ea typeface="Arial"/>
                <a:cs typeface="Arial"/>
              </a:rPr>
              <a:t>Weather Forecasting Using Machine Learning</a:t>
            </a:r>
          </a:p>
        </p:txBody>
      </p:sp>
      <p:sp>
        <p:nvSpPr>
          <p:cNvPr id="16" name="">
            <a:extLst xmlns:a="http://schemas.openxmlformats.org/drawingml/2006/main">
              <a:ext uri="{FF2B5EF4-FFF2-40B4-BE49-F238E27FC236}">
                <a16:creationId xmlns:a16="http://schemas.microsoft.com/office/drawing/2014/main" id="{0B339FD8-C5B4-4793-81A5-AABEB8A87534}"/>
              </a:ext>
            </a:extLst>
          </p:cNvPr>
          <p:cNvSpPr>
            <a:spLocks xmlns:a="http://schemas.openxmlformats.org/drawingml/2006/main" noGrp="1"/>
          </p:cNvSpPr>
          <p:nvPr/>
        </p:nvSpPr>
        <p:spPr>
          <a:xfrm xmlns:a="http://schemas.openxmlformats.org/drawingml/2006/main">
            <a:off x="11029950" y="6524625"/>
            <a:ext cx="5524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defRPr sz="900" b="1">
                <a:solidFill>
                  <a:srgbClr val="0077B6"/>
                </a:solidFill>
                <a:latin typeface="Arial"/>
                <a:ea typeface="Arial"/>
                <a:cs typeface="Arial"/>
              </a:defRPr>
            </a:pPr>
            <a:r>
              <a:rPr sz="900" b="1">
                <a:solidFill>
                  <a:srgbClr val="0077B6"/>
                </a:solidFill>
                <a:latin typeface="Arial"/>
                <a:ea typeface="Arial"/>
                <a:cs typeface="Arial"/>
              </a:rPr>
              <a:t>16</a:t>
            </a:r>
          </a:p>
        </p:txBody>
      </p:sp>
    </p:spTree>
    <p:extLst>
      <p:ext uri="{BB962C8B-B14F-4D97-AF65-F5344CB8AC3E}">
        <p14:creationId xmlns:p14="http://schemas.microsoft.com/office/powerpoint/2010/main" val="6208880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2026-09-06T05:14:33.2450000Z</dcterms:created>
  <dcterms:modified xsi:type="dcterms:W3CDTF">2026-09-06T05:14:33.2450000Z</dcterms:modified>
</coreProperties>
</file>