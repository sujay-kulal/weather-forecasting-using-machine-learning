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Weather Forecasting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Student Name: [Your Name]</a:t>
            </a:r>
          </a:p>
          <a:p>
            <a:pPr>
              <a:defRPr sz="2000">
                <a:latin typeface="Arial"/>
              </a:defRPr>
            </a:pPr>
            <a:r>
              <a:t>USN/Roll Number: [Your USN]</a:t>
            </a:r>
          </a:p>
          <a:p>
            <a:pPr>
              <a:defRPr sz="2000">
                <a:latin typeface="Arial"/>
              </a:defRPr>
            </a:pPr>
            <a:r>
              <a:t>Department: [Your Department]</a:t>
            </a:r>
          </a:p>
          <a:p>
            <a:pPr>
              <a:defRPr sz="2000">
                <a:latin typeface="Arial"/>
              </a:defRPr>
            </a:pPr>
            <a:r>
              <a:t>College/University: [Your College]</a:t>
            </a:r>
          </a:p>
          <a:p>
            <a:pPr>
              <a:defRPr sz="2000">
                <a:latin typeface="Arial"/>
              </a:defRPr>
            </a:pPr>
            <a:r>
              <a:t>Guide Name: [Guide Name]</a:t>
            </a:r>
          </a:p>
          <a:p>
            <a:pPr>
              <a:defRPr sz="2000">
                <a:latin typeface="Arial"/>
              </a:defRPr>
            </a:pPr>
            <a:r>
              <a:t>Academic Year: 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What is weather forecasting?</a:t>
            </a:r>
          </a:p>
          <a:p>
            <a:pPr lvl="1">
              <a:defRPr sz="2000">
                <a:latin typeface="Arial"/>
              </a:defRPr>
            </a:pPr>
            <a:r>
              <a:t>Predicting atmospheric conditions (temperature, rainfall) for a future time and location.</a:t>
            </a:r>
          </a:p>
          <a:p>
            <a:pPr>
              <a:defRPr sz="2000">
                <a:latin typeface="Arial"/>
              </a:defRPr>
            </a:pPr>
            <a:r>
              <a:t>Why is it useful?</a:t>
            </a:r>
          </a:p>
          <a:p>
            <a:pPr lvl="1">
              <a:defRPr sz="2000">
                <a:latin typeface="Arial"/>
              </a:defRPr>
            </a:pPr>
            <a:r>
              <a:t>Critical for agriculture, disaster management, planning, and daily activities.</a:t>
            </a:r>
          </a:p>
          <a:p>
            <a:pPr>
              <a:defRPr sz="2000">
                <a:latin typeface="Arial"/>
              </a:defRPr>
            </a:pPr>
            <a:r>
              <a:t>How machine learning helps?</a:t>
            </a:r>
          </a:p>
          <a:p>
            <a:pPr lvl="1">
              <a:defRPr sz="2000">
                <a:latin typeface="Arial"/>
              </a:defRPr>
            </a:pPr>
            <a:r>
              <a:t>Identifies complex historical patterns without relying solely on traditional physics-based models.</a:t>
            </a:r>
          </a:p>
          <a:p>
            <a:pPr>
              <a:defRPr sz="2000">
                <a:latin typeface="Arial"/>
              </a:defRPr>
            </a:pPr>
            <a:r>
              <a:t>Problem attempted to solve:</a:t>
            </a:r>
          </a:p>
          <a:p>
            <a:pPr lvl="1">
              <a:defRPr sz="2000">
                <a:latin typeface="Arial"/>
              </a:defRPr>
            </a:pPr>
            <a:r>
              <a:t>Building a responsive system to process real historical data and predict next-day temperature accurately.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Traditional weather information can be difficult to interpret for general users.</a:t>
            </a:r>
          </a:p>
          <a:p>
            <a:pPr>
              <a:defRPr sz="2000">
                <a:latin typeface="Arial"/>
              </a:defRPr>
            </a:pPr>
            <a:r>
              <a:t>Need for an accessible, web-based forecasting application.</a:t>
            </a:r>
          </a:p>
          <a:p>
            <a:pPr>
              <a:defRPr sz="2000">
                <a:latin typeface="Arial"/>
              </a:defRPr>
            </a:pPr>
            <a:r>
              <a:t>Need to efficiently process and store historical and current weather data.</a:t>
            </a:r>
          </a:p>
          <a:p>
            <a:pPr>
              <a:defRPr sz="2000">
                <a:latin typeface="Arial"/>
              </a:defRPr>
            </a:pPr>
            <a:r>
              <a:t>Need to generate accurate next-day average temperature predictions using a trained machine learning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Build a machine-learning-based weather forecasting system.</a:t>
            </a:r>
          </a:p>
          <a:p>
            <a:pPr>
              <a:defRPr sz="2000">
                <a:latin typeface="Arial"/>
              </a:defRPr>
            </a:pPr>
            <a:r>
              <a:t>Process and engineer daily weather data features.</a:t>
            </a:r>
          </a:p>
          <a:p>
            <a:pPr>
              <a:defRPr sz="2000">
                <a:latin typeface="Arial"/>
              </a:defRPr>
            </a:pPr>
            <a:r>
              <a:t>Generate accurate weather predictions without future-data leakage.</a:t>
            </a:r>
          </a:p>
          <a:p>
            <a:pPr>
              <a:defRPr sz="2000">
                <a:latin typeface="Arial"/>
              </a:defRPr>
            </a:pPr>
            <a:r>
              <a:t>Provide predictions through a robust REST API (FastAPI).</a:t>
            </a:r>
          </a:p>
          <a:p>
            <a:pPr>
              <a:defRPr sz="2000">
                <a:latin typeface="Arial"/>
              </a:defRPr>
            </a:pPr>
            <a:r>
              <a:t>Store and retrieve weather/prediction data using PostgreSQL.</a:t>
            </a:r>
          </a:p>
          <a:p>
            <a:pPr>
              <a:defRPr sz="2000">
                <a:latin typeface="Arial"/>
              </a:defRPr>
            </a:pPr>
            <a:r>
              <a:t>Provide a highly usable React frontend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Existing System vs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Existing System</a:t>
            </a:r>
          </a:p>
          <a:p>
            <a:pPr lvl="1">
              <a:defRPr sz="2000"/>
            </a:pPr>
            <a:r>
              <a:t>Conventional weather info</a:t>
            </a:r>
          </a:p>
          <a:p>
            <a:pPr lvl="1">
              <a:defRPr sz="2000"/>
            </a:pPr>
            <a:r>
              <a:t>Limited integration with ML prediction</a:t>
            </a:r>
          </a:p>
          <a:p>
            <a:pPr lvl="1">
              <a:defRPr sz="2000"/>
            </a:pPr>
            <a:r>
              <a:t>Separate systems for data, prediction and presentation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Proposed System</a:t>
            </a:r>
          </a:p>
          <a:p>
            <a:pPr lvl="1">
              <a:defRPr sz="2000"/>
            </a:pPr>
            <a:r>
              <a:t>Machine learning based forecasting</a:t>
            </a:r>
          </a:p>
          <a:p>
            <a:pPr lvl="1">
              <a:defRPr sz="2000"/>
            </a:pPr>
            <a:r>
              <a:t>Web-based interface (React)</a:t>
            </a:r>
          </a:p>
          <a:p>
            <a:pPr lvl="1">
              <a:defRPr sz="2000"/>
            </a:pPr>
            <a:r>
              <a:t>FastAPI backend API</a:t>
            </a:r>
          </a:p>
          <a:p>
            <a:pPr lvl="1">
              <a:defRPr sz="2000"/>
            </a:pPr>
            <a:r>
              <a:t>PostgreSQL database integration</a:t>
            </a:r>
          </a:p>
          <a:p>
            <a:pPr lvl="1">
              <a:defRPr sz="2000"/>
            </a:pPr>
            <a:r>
              <a:t>Existing trained scikit-learn ML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800" b="1"/>
            </a:pPr>
            <a:r>
              <a:t>User -&gt; React + Vite Frontend</a:t>
            </a:r>
          </a:p>
          <a:p>
            <a:pPr algn="ctr">
              <a:defRPr sz="1600"/>
            </a:pPr>
            <a:r>
              <a:t>↓</a:t>
            </a:r>
          </a:p>
          <a:p>
            <a:pPr algn="ctr">
              <a:defRPr sz="1800" b="1"/>
            </a:pPr>
            <a:r>
              <a:t>FastAPI Backend</a:t>
            </a:r>
          </a:p>
          <a:p>
            <a:pPr algn="ctr">
              <a:defRPr sz="1600"/>
            </a:pPr>
            <a:r>
              <a:t>↓</a:t>
            </a:r>
          </a:p>
          <a:p>
            <a:pPr algn="ctr">
              <a:defRPr sz="1800" b="1"/>
            </a:pPr>
            <a:r>
              <a:t>PostgreSQL Database (Fetches 7-day history)</a:t>
            </a:r>
          </a:p>
          <a:p>
            <a:pPr algn="ctr">
              <a:defRPr sz="1600"/>
            </a:pPr>
            <a:r>
              <a:t>↓</a:t>
            </a:r>
          </a:p>
          <a:p>
            <a:pPr algn="ctr">
              <a:defRPr sz="1800" b="1"/>
            </a:pPr>
            <a:r>
              <a:t>Feature Preparation (Builds 13 input features)</a:t>
            </a:r>
          </a:p>
          <a:p>
            <a:pPr algn="ctr">
              <a:defRPr sz="1600"/>
            </a:pPr>
            <a:r>
              <a:t>↓</a:t>
            </a:r>
          </a:p>
          <a:p>
            <a:pPr algn="ctr">
              <a:defRPr sz="1800" b="1"/>
            </a:pPr>
            <a:r>
              <a:t>Trained Scikit-learn ML Model (Gradient Boosting)</a:t>
            </a:r>
          </a:p>
          <a:p>
            <a:pPr algn="ctr">
              <a:defRPr sz="1600"/>
            </a:pPr>
            <a:r>
              <a:t>↓</a:t>
            </a:r>
          </a:p>
          <a:p>
            <a:pPr algn="ctr">
              <a:defRPr sz="1800" b="1"/>
            </a:pPr>
            <a:r>
              <a:t>Prediction Storage / API Response -&gt; Frontend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t>Data Ingestion: Open-Meteo Archive API -&gt;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Development Stack</a:t>
            </a:r>
          </a:p>
          <a:p>
            <a:pPr lvl="1">
              <a:defRPr sz="1800"/>
            </a:pPr>
            <a:r>
              <a:t>Frontend: React, Vite, TypeScript</a:t>
            </a:r>
          </a:p>
          <a:p>
            <a:pPr lvl="1">
              <a:defRPr sz="1800"/>
            </a:pPr>
            <a:r>
              <a:t>Backend: Python, FastAPI</a:t>
            </a:r>
          </a:p>
          <a:p>
            <a:pPr lvl="1">
              <a:defRPr sz="1800"/>
            </a:pPr>
            <a:r>
              <a:t>Database: PostgreSQL</a:t>
            </a:r>
          </a:p>
          <a:p>
            <a:pPr lvl="1">
              <a:defRPr sz="1800"/>
            </a:pPr>
            <a:r>
              <a:t>Machine Learning: scikit-learn</a:t>
            </a:r>
          </a:p>
          <a:p>
            <a:pPr lvl="1">
              <a:defRPr sz="1800"/>
            </a:pPr>
            <a:r>
              <a:t>Data API: Open-Meteo Archive API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Deployment Stack</a:t>
            </a:r>
          </a:p>
          <a:p>
            <a:pPr lvl="1">
              <a:defRPr sz="1800"/>
            </a:pPr>
            <a:r>
              <a:t>Version Control: GitHub</a:t>
            </a:r>
          </a:p>
          <a:p>
            <a:pPr lvl="1">
              <a:defRPr sz="1800"/>
            </a:pPr>
            <a:r>
              <a:t>Backend Hosting: Render</a:t>
            </a:r>
          </a:p>
          <a:p>
            <a:pPr lvl="1">
              <a:defRPr sz="1800"/>
            </a:pPr>
            <a:r>
              <a:t>Database Hosting: Neon PostgreSQL</a:t>
            </a:r>
          </a:p>
          <a:p>
            <a:pPr lvl="1">
              <a:defRPr sz="1800"/>
            </a:pPr>
            <a:r>
              <a:t>Frontend Hosting: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Dataset and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Source: Real Indian weather dataset + Open-Meteo API.</a:t>
            </a:r>
          </a:p>
          <a:p>
            <a:pPr>
              <a:defRPr sz="2000">
                <a:latin typeface="Arial"/>
              </a:defRPr>
            </a:pPr>
            <a:r>
              <a:t>Coverage: 34 States/Regions, 31,177+ historical records.</a:t>
            </a:r>
          </a:p>
          <a:p>
            <a:pPr>
              <a:defRPr sz="2000">
                <a:latin typeface="Arial"/>
              </a:defRPr>
            </a:pPr>
            <a:r>
              <a:t>Features: Date, State, Temp_Max, Temp_Min, Temp_Avg, Humidity, Rainfall, Month, Season.</a:t>
            </a:r>
          </a:p>
          <a:p>
            <a:pPr>
              <a:defRPr sz="2000">
                <a:latin typeface="Arial"/>
              </a:defRPr>
            </a:pPr>
            <a:r>
              <a:t>Data Preprocessing:</a:t>
            </a:r>
          </a:p>
          <a:p>
            <a:pPr lvl="1">
              <a:defRPr sz="2000">
                <a:latin typeface="Arial"/>
              </a:defRPr>
            </a:pPr>
            <a:r>
              <a:t>Handled missing values.</a:t>
            </a:r>
          </a:p>
          <a:p>
            <a:pPr lvl="1">
              <a:defRPr sz="2000">
                <a:latin typeface="Arial"/>
              </a:defRPr>
            </a:pPr>
            <a:r>
              <a:t>Sorted chronologically to prevent future leakage.</a:t>
            </a:r>
          </a:p>
          <a:p>
            <a:pPr lvl="1">
              <a:defRPr sz="2000">
                <a:latin typeface="Arial"/>
              </a:defRPr>
            </a:pPr>
            <a:r>
              <a:t>Extracted lag features (past 1-3 days), rolling means (3, 7 days).</a:t>
            </a:r>
          </a:p>
          <a:p>
            <a:pPr lvl="1">
              <a:defRPr sz="2000">
                <a:latin typeface="Arial"/>
              </a:defRPr>
            </a:pPr>
            <a:r>
              <a:t>Engineered trigonometric seasonal features (month sine/cosine).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Algorithm: Gradient Boosting Regressor (scikit-learn).</a:t>
            </a:r>
          </a:p>
          <a:p>
            <a:pPr>
              <a:defRPr sz="2000">
                <a:latin typeface="Arial"/>
              </a:defRPr>
            </a:pPr>
            <a:r>
              <a:t>Target Variable: Next-day Average Temperature (Temp_Avg).</a:t>
            </a:r>
          </a:p>
          <a:p>
            <a:pPr>
              <a:defRPr sz="2000">
                <a:latin typeface="Arial"/>
              </a:defRPr>
            </a:pPr>
            <a:r>
              <a:t>Input Features (13-feature contract):</a:t>
            </a:r>
          </a:p>
          <a:p>
            <a:pPr lvl="1">
              <a:defRPr sz="2000">
                <a:latin typeface="Arial"/>
              </a:defRPr>
            </a:pPr>
            <a:r>
              <a:t>lags: temp_avg (3 days), max/min/humidity/rainfall (1 day).</a:t>
            </a:r>
          </a:p>
          <a:p>
            <a:pPr lvl="1">
              <a:defRPr sz="2000">
                <a:latin typeface="Arial"/>
              </a:defRPr>
            </a:pPr>
            <a:r>
              <a:t>rolling: temp_avg (3-day and 7-day).</a:t>
            </a:r>
          </a:p>
          <a:p>
            <a:pPr lvl="1">
              <a:defRPr sz="2000">
                <a:latin typeface="Arial"/>
              </a:defRPr>
            </a:pPr>
            <a:r>
              <a:t>contextual: month_sin, month_cos, Season, State.</a:t>
            </a:r>
          </a:p>
          <a:p>
            <a:pPr>
              <a:defRPr sz="2000">
                <a:latin typeface="Arial"/>
              </a:defRPr>
            </a:pPr>
            <a:r>
              <a:t>Training Process:</a:t>
            </a:r>
          </a:p>
          <a:p>
            <a:pPr lvl="1">
              <a:defRPr sz="2000">
                <a:latin typeface="Arial"/>
              </a:defRPr>
            </a:pPr>
            <a:r>
              <a:t>80/20 chronological split (no random shuffle).</a:t>
            </a:r>
          </a:p>
          <a:p>
            <a:pPr lvl="1">
              <a:defRPr sz="2000">
                <a:latin typeface="Arial"/>
              </a:defRPr>
            </a:pPr>
            <a:r>
              <a:t>Baseline comparison (Linear, Tree, Forest, Gradient Boosting, Naive).</a:t>
            </a:r>
          </a:p>
          <a:p>
            <a:pPr lvl="1">
              <a:defRPr sz="2000">
                <a:latin typeface="Arial"/>
              </a:defRPr>
            </a:pPr>
            <a:r>
              <a:t>Preserved existing trained model via joblib (No retraining in Phase 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Feature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800" b="1"/>
            </a:pPr>
            <a:r>
              <a:t>Weather Data (from Database)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Data Validation (Must have 7 days history)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Feature Extraction (Lags &amp; Rolling Means)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13-Feature Input Contract (Dict/Array)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Trained ML Model (weather_model.joblib)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Next-Day Temperature Prediction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800" b="1"/>
            </a:pPr>
            <a:r>
              <a:t>Database Storage &amp; Frontend Display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Backend and API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Core Endpoints:</a:t>
            </a:r>
          </a:p>
          <a:p>
            <a:pPr lvl="1">
              <a:defRPr sz="2000">
                <a:latin typeface="Arial"/>
              </a:defRPr>
            </a:pPr>
            <a:r>
              <a:t>GET /health: System status</a:t>
            </a:r>
          </a:p>
          <a:p>
            <a:pPr lvl="1">
              <a:defRPr sz="2000">
                <a:latin typeface="Arial"/>
              </a:defRPr>
            </a:pPr>
            <a:r>
              <a:t>GET /states: Available regions</a:t>
            </a:r>
          </a:p>
          <a:p>
            <a:pPr lvl="1">
              <a:defRPr sz="2000">
                <a:latin typeface="Arial"/>
              </a:defRPr>
            </a:pPr>
            <a:r>
              <a:t>GET /weather/{state}: Historical weather context</a:t>
            </a:r>
          </a:p>
          <a:p>
            <a:pPr lvl="1">
              <a:defRPr sz="2000">
                <a:latin typeface="Arial"/>
              </a:defRPr>
            </a:pPr>
            <a:r>
              <a:t>GET /weather/{state}/recent: Last 14 days context</a:t>
            </a:r>
          </a:p>
          <a:p>
            <a:pPr lvl="1">
              <a:defRPr sz="2000">
                <a:latin typeface="Arial"/>
              </a:defRPr>
            </a:pPr>
            <a:r>
              <a:t>POST /predict: Generate forecast</a:t>
            </a:r>
          </a:p>
          <a:p>
            <a:pPr lvl="1">
              <a:defRPr sz="2000">
                <a:latin typeface="Arial"/>
              </a:defRPr>
            </a:pPr>
            <a:r>
              <a:t>GET /predictions: History of generated forecasts</a:t>
            </a:r>
          </a:p>
          <a:p>
            <a:pPr lvl="1">
              <a:defRPr sz="2000">
                <a:latin typeface="Arial"/>
              </a:defRPr>
            </a:pPr>
            <a:r>
              <a:t>GET /model-info: Model metadata</a:t>
            </a:r>
          </a:p>
          <a:p>
            <a:pPr>
              <a:defRPr sz="2000">
                <a:latin typeface="Arial"/>
              </a:defRPr>
            </a:pPr>
            <a:r>
              <a:t>Flow:</a:t>
            </a:r>
          </a:p>
          <a:p>
            <a:pPr lvl="1">
              <a:defRPr sz="2000">
                <a:latin typeface="Arial"/>
              </a:defRPr>
            </a:pPr>
            <a:r>
              <a:t>API Request -&gt; Database validation -&gt; History retrieval -&gt; Feature build -&gt; Prediction -&gt;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Frontend (React + 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Pages implemented:</a:t>
            </a:r>
          </a:p>
          <a:p>
            <a:pPr lvl="1">
              <a:defRPr sz="2000">
                <a:latin typeface="Arial"/>
              </a:defRPr>
            </a:pPr>
            <a:r>
              <a:t>Forecast Page: Request and visualize predictions</a:t>
            </a:r>
          </a:p>
          <a:p>
            <a:pPr lvl="1">
              <a:defRPr sz="2000">
                <a:latin typeface="Arial"/>
              </a:defRPr>
            </a:pPr>
            <a:r>
              <a:t>Weather History Page: Browse past weather records</a:t>
            </a:r>
          </a:p>
          <a:p>
            <a:pPr lvl="1">
              <a:defRPr sz="2000">
                <a:latin typeface="Arial"/>
              </a:defRPr>
            </a:pPr>
            <a:r>
              <a:t>Model Performance Page: View training metrics &amp; feature importances</a:t>
            </a:r>
          </a:p>
          <a:p>
            <a:pPr lvl="1">
              <a:defRPr sz="2000">
                <a:latin typeface="Arial"/>
              </a:defRPr>
            </a:pPr>
            <a:r>
              <a:t>Prediction History Page: Audit past generated forecasts</a:t>
            </a:r>
          </a:p>
          <a:p>
            <a:pPr>
              <a:defRPr sz="2000">
                <a:latin typeface="Arial"/>
              </a:defRPr>
            </a:pPr>
            <a:r>
              <a:t>Integration:</a:t>
            </a:r>
          </a:p>
          <a:p>
            <a:pPr lvl="1">
              <a:defRPr sz="2000">
                <a:latin typeface="Arial"/>
              </a:defRPr>
            </a:pPr>
            <a:r>
              <a:t>Exclusively communicates with FastAPI backend via REST.</a:t>
            </a:r>
          </a:p>
          <a:p>
            <a:pPr lvl="1">
              <a:defRPr sz="2000">
                <a:latin typeface="Arial"/>
              </a:defRPr>
            </a:pPr>
            <a:r>
              <a:t>Dynamic charting (Recharts) for visual context.</a:t>
            </a:r>
          </a:p>
          <a:p>
            <a:pPr lvl="1">
              <a:defRPr sz="2000">
                <a:latin typeface="Arial"/>
              </a:defRPr>
            </a:pPr>
            <a:r>
              <a:t>TypeScript interfaces mirroring backend schemas.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Database (PostgreSQL)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Why PostgreSQL?</a:t>
            </a:r>
          </a:p>
          <a:p>
            <a:pPr lvl="1">
              <a:defRPr sz="2000">
                <a:latin typeface="Arial"/>
              </a:defRPr>
            </a:pPr>
            <a:r>
              <a:t>High reliability, strong relational structure, and type safety.</a:t>
            </a:r>
          </a:p>
          <a:p>
            <a:pPr>
              <a:defRPr sz="2000">
                <a:latin typeface="Arial"/>
              </a:defRPr>
            </a:pPr>
            <a:r>
              <a:t>Entities/Tables:</a:t>
            </a:r>
          </a:p>
          <a:p>
            <a:pPr lvl="1">
              <a:defRPr sz="2000">
                <a:latin typeface="Arial"/>
              </a:defRPr>
            </a:pPr>
            <a:r>
              <a:t>weather_data: Stores daily weather measurements</a:t>
            </a:r>
          </a:p>
          <a:p>
            <a:pPr lvl="1">
              <a:defRPr sz="2000">
                <a:latin typeface="Arial"/>
              </a:defRPr>
            </a:pPr>
            <a:r>
              <a:t>predictions: Audit log of all API-generated forecasts.</a:t>
            </a:r>
          </a:p>
          <a:p>
            <a:pPr>
              <a:defRPr sz="2000">
                <a:latin typeface="Arial"/>
              </a:defRPr>
            </a:pPr>
            <a:r>
              <a:t>Data Integrity:</a:t>
            </a:r>
          </a:p>
          <a:p>
            <a:pPr lvl="1">
              <a:defRPr sz="2000">
                <a:latin typeface="Arial"/>
              </a:defRPr>
            </a:pPr>
            <a:r>
              <a:t>Enforces constraints (e.g., duplicate date/state prevention).</a:t>
            </a:r>
          </a:p>
          <a:p>
            <a:pPr lvl="1">
              <a:defRPr sz="2000">
                <a:latin typeface="Arial"/>
              </a:defRPr>
            </a:pPr>
            <a:r>
              <a:t>Used directly to reconstruct the 7-day prior context for the ML model without data leakage.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Backend Health Check: PASS (FastAPI + DB Connection).</a:t>
            </a:r>
          </a:p>
          <a:p>
            <a:pPr>
              <a:defRPr sz="2000">
                <a:latin typeface="Arial"/>
              </a:defRPr>
            </a:pPr>
            <a:r>
              <a:t>ML Model Loading (joblib): PASS.</a:t>
            </a:r>
          </a:p>
          <a:p>
            <a:pPr>
              <a:defRPr sz="2000">
                <a:latin typeface="Arial"/>
              </a:defRPr>
            </a:pPr>
            <a:r>
              <a:t>Feature Consistency Test: PASS</a:t>
            </a:r>
          </a:p>
          <a:p>
            <a:pPr lvl="1">
              <a:defRPr sz="2000">
                <a:latin typeface="Arial"/>
              </a:defRPr>
            </a:pPr>
            <a:r>
              <a:t>Backend feature engineering matches training pipeline strictly.</a:t>
            </a:r>
          </a:p>
          <a:p>
            <a:pPr>
              <a:defRPr sz="2000">
                <a:latin typeface="Arial"/>
              </a:defRPr>
            </a:pPr>
            <a:r>
              <a:t>Forecast Generation API: PASS.</a:t>
            </a:r>
          </a:p>
          <a:p>
            <a:pPr>
              <a:defRPr sz="2000">
                <a:latin typeface="Arial"/>
              </a:defRPr>
            </a:pPr>
            <a:r>
              <a:t>Database Connectivity &amp; Constraint Validation: PASS.</a:t>
            </a:r>
          </a:p>
          <a:p>
            <a:pPr>
              <a:defRPr sz="2000">
                <a:latin typeface="Arial"/>
              </a:defRPr>
            </a:pPr>
            <a:r>
              <a:t>Frontend TypeScript checks: PASS.</a:t>
            </a:r>
          </a:p>
          <a:p>
            <a:pPr>
              <a:defRPr sz="2000">
                <a:latin typeface="Arial"/>
              </a:defRPr>
            </a:pPr>
            <a:r>
              <a:t>No hardcoded API credentials / secure environment vars: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GitHub -&gt; Render</a:t>
            </a:r>
          </a:p>
          <a:p>
            <a:pPr lvl="1">
              <a:defRPr sz="2000">
                <a:latin typeface="Arial"/>
              </a:defRPr>
            </a:pPr>
            <a:r>
              <a:t>FastAPI Backend hosted on Render.</a:t>
            </a:r>
          </a:p>
          <a:p>
            <a:pPr>
              <a:defRPr sz="2000">
                <a:latin typeface="Arial"/>
              </a:defRPr>
            </a:pPr>
            <a:r>
              <a:t>GitHub -&gt; Neon</a:t>
            </a:r>
          </a:p>
          <a:p>
            <a:pPr lvl="1">
              <a:defRPr sz="2000">
                <a:latin typeface="Arial"/>
              </a:defRPr>
            </a:pPr>
            <a:r>
              <a:t>PostgreSQL database hosted on Neon Serverless.</a:t>
            </a:r>
          </a:p>
          <a:p>
            <a:pPr>
              <a:defRPr sz="2000">
                <a:latin typeface="Arial"/>
              </a:defRPr>
            </a:pPr>
            <a:r>
              <a:t>GitHub -&gt; Vercel</a:t>
            </a:r>
          </a:p>
          <a:p>
            <a:pPr lvl="1">
              <a:defRPr sz="2000">
                <a:latin typeface="Arial"/>
              </a:defRPr>
            </a:pPr>
            <a:r>
              <a:t>React + Vite Frontend hosted on Vercel.</a:t>
            </a:r>
          </a:p>
          <a:p>
            <a:pPr>
              <a:defRPr sz="2000">
                <a:latin typeface="Arial"/>
              </a:defRPr>
            </a:pPr>
            <a:r>
              <a:t>Configuration:</a:t>
            </a:r>
          </a:p>
          <a:p>
            <a:pPr lvl="1">
              <a:defRPr sz="2000">
                <a:latin typeface="Arial"/>
              </a:defRPr>
            </a:pPr>
            <a:r>
              <a:t>Controlled via environment variables (DATABASE_URL).</a:t>
            </a:r>
          </a:p>
          <a:p>
            <a:pPr lvl="1">
              <a:defRPr sz="2000">
                <a:latin typeface="Arial"/>
              </a:defRPr>
            </a:pPr>
            <a:r>
              <a:t>CORS enabled to allow secure frontend-backend communication.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Conclusion</a:t>
            </a:r>
          </a:p>
          <a:p>
            <a:pPr lvl="1">
              <a:defRPr sz="1800"/>
            </a:pPr>
            <a:r>
              <a:t>Successfully built and integrated an ML-based forecasting tool.</a:t>
            </a:r>
          </a:p>
          <a:p>
            <a:pPr lvl="1">
              <a:defRPr sz="1800"/>
            </a:pPr>
            <a:r>
              <a:t>Ensured strict leakage-free feature engineering via REST API.</a:t>
            </a:r>
          </a:p>
          <a:p>
            <a:pPr lvl="1">
              <a:defRPr sz="1800"/>
            </a:pPr>
            <a:r>
              <a:t>Provides a seamless, accessible web interface for weather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Future Scope</a:t>
            </a:r>
          </a:p>
          <a:p>
            <a:pPr lvl="1">
              <a:defRPr sz="1800"/>
            </a:pPr>
            <a:r>
              <a:t>Improved model accuracy with more training data.</a:t>
            </a:r>
          </a:p>
          <a:p>
            <a:pPr lvl="1">
              <a:defRPr sz="1800"/>
            </a:pPr>
            <a:r>
              <a:t>Adding more weather variables (e.g., wind speed).</a:t>
            </a:r>
          </a:p>
          <a:p>
            <a:pPr lvl="1">
              <a:defRPr sz="1800"/>
            </a:pPr>
            <a:r>
              <a:t>Extending the forecasting horizon beyond next-day.</a:t>
            </a:r>
          </a:p>
          <a:p>
            <a:pPr lvl="1">
              <a:defRPr sz="1800"/>
            </a:pPr>
            <a:r>
              <a:t>Automated scheduled data ingestion.</a:t>
            </a:r>
          </a:p>
          <a:p>
            <a:pPr lvl="1">
              <a:defRPr sz="1800"/>
            </a:pPr>
            <a:r>
              <a:t>Expanding to more regions/countries.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